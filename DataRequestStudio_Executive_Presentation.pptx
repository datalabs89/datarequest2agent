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97280" cy="73152"/>
          </a:xfrm>
          <a:prstGeom prst="rect">
            <a:avLst/>
          </a:prstGeom>
          <a:solidFill>
            <a:srgbClr val="0077C8"/>
          </a:solidFill>
          <a:ln>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17320"/>
            <a:ext cx="10515600" cy="365760"/>
          </a:xfrm>
          <a:prstGeom prst="rect">
            <a:avLst/>
          </a:prstGeom>
          <a:noFill/>
        </p:spPr>
        <p:txBody>
          <a:bodyPr wrap="square">
            <a:spAutoFit/>
          </a:bodyPr>
          <a:lstStyle/>
          <a:p>
            <a:pPr>
              <a:defRPr sz="1100" b="1">
                <a:solidFill>
                  <a:srgbClr val="0077C8"/>
                </a:solidFill>
                <a:latin typeface="Arial"/>
              </a:defRPr>
            </a:pPr>
            <a:r>
              <a:t>DIREKTORAT JENDERAL BEA DAN CUKAI  |  ENTERPRISE DATA GOVERNANCE</a:t>
            </a:r>
          </a:p>
        </p:txBody>
      </p:sp>
      <p:sp>
        <p:nvSpPr>
          <p:cNvPr id="5" name="TextBox 4"/>
          <p:cNvSpPr txBox="1"/>
          <p:nvPr/>
        </p:nvSpPr>
        <p:spPr>
          <a:xfrm>
            <a:off x="731520" y="1828800"/>
            <a:ext cx="10515600" cy="1645920"/>
          </a:xfrm>
          <a:prstGeom prst="rect">
            <a:avLst/>
          </a:prstGeom>
          <a:noFill/>
        </p:spPr>
        <p:txBody>
          <a:bodyPr wrap="square">
            <a:spAutoFit/>
          </a:bodyPr>
          <a:lstStyle/>
          <a:p>
            <a:pPr>
              <a:defRPr sz="3600" b="1">
                <a:solidFill>
                  <a:srgbClr val="FFFFFF"/>
                </a:solidFill>
                <a:latin typeface="Arial"/>
              </a:defRPr>
            </a:pPr>
            <a:r>
              <a:t>DataRequestStudio:</a:t>
            </a:r>
            <a:br/>
            <a:r>
              <a:t>Tata Kelola &amp; Otomasi Pemenuhan Data</a:t>
            </a:r>
          </a:p>
        </p:txBody>
      </p:sp>
      <p:sp>
        <p:nvSpPr>
          <p:cNvPr id="6" name="TextBox 5"/>
          <p:cNvSpPr txBox="1"/>
          <p:nvPr/>
        </p:nvSpPr>
        <p:spPr>
          <a:xfrm>
            <a:off x="731520" y="3566160"/>
            <a:ext cx="10515600" cy="822960"/>
          </a:xfrm>
          <a:prstGeom prst="rect">
            <a:avLst/>
          </a:prstGeom>
          <a:noFill/>
        </p:spPr>
        <p:txBody>
          <a:bodyPr wrap="square">
            <a:spAutoFit/>
          </a:bodyPr>
          <a:lstStyle/>
          <a:p>
            <a:pPr>
              <a:defRPr sz="1400">
                <a:solidFill>
                  <a:srgbClr val="CBD5E1"/>
                </a:solidFill>
                <a:latin typeface="Arial"/>
              </a:defRPr>
            </a:pPr>
            <a:r>
              <a:t>Kompendium Eksekutif: Definisi (What), Urgensi &amp; Nilai Tambah (Why), serta Panduan Akses (How to Access) Portal Permohonan Data CEISA Data Warehouse</a:t>
            </a:r>
          </a:p>
        </p:txBody>
      </p:sp>
      <p:sp>
        <p:nvSpPr>
          <p:cNvPr id="7" name="Rectangle 6"/>
          <p:cNvSpPr/>
          <p:nvPr/>
        </p:nvSpPr>
        <p:spPr>
          <a:xfrm>
            <a:off x="731520" y="4846320"/>
            <a:ext cx="3383280" cy="1005840"/>
          </a:xfrm>
          <a:prstGeom prst="rect">
            <a:avLst/>
          </a:prstGeom>
          <a:solidFill>
            <a:srgbClr val="1A2E55"/>
          </a:solidFill>
          <a:ln w="12700">
            <a:solidFill>
              <a:srgbClr val="2844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983480"/>
            <a:ext cx="3017520" cy="731520"/>
          </a:xfrm>
          <a:prstGeom prst="rect">
            <a:avLst/>
          </a:prstGeom>
          <a:noFill/>
        </p:spPr>
        <p:txBody>
          <a:bodyPr wrap="square">
            <a:spAutoFit/>
          </a:bodyPr>
          <a:lstStyle/>
          <a:p>
            <a:pPr>
              <a:defRPr sz="900" b="1">
                <a:solidFill>
                  <a:srgbClr val="0077C8"/>
                </a:solidFill>
                <a:latin typeface="Arial"/>
              </a:defRPr>
            </a:pPr>
            <a:r>
              <a:t>FOKUS STRATEGIS</a:t>
            </a:r>
          </a:p>
          <a:p>
            <a:pPr>
              <a:spcBef>
                <a:spcPts val="400"/>
              </a:spcBef>
              <a:defRPr sz="1100">
                <a:solidFill>
                  <a:srgbClr val="FFFFFF"/>
                </a:solidFill>
                <a:latin typeface="Arial"/>
              </a:defRPr>
            </a:pPr>
            <a:r>
              <a:t>Otomasi SLA &amp; Kepatuhan UU PDP No. 27/2022</a:t>
            </a:r>
          </a:p>
        </p:txBody>
      </p:sp>
      <p:sp>
        <p:nvSpPr>
          <p:cNvPr id="9" name="Rectangle 8"/>
          <p:cNvSpPr/>
          <p:nvPr/>
        </p:nvSpPr>
        <p:spPr>
          <a:xfrm>
            <a:off x="4389120" y="4846320"/>
            <a:ext cx="3383280" cy="1005840"/>
          </a:xfrm>
          <a:prstGeom prst="rect">
            <a:avLst/>
          </a:prstGeom>
          <a:solidFill>
            <a:srgbClr val="1A2E55"/>
          </a:solidFill>
          <a:ln w="12700">
            <a:solidFill>
              <a:srgbClr val="2844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4983480"/>
            <a:ext cx="3017520" cy="731520"/>
          </a:xfrm>
          <a:prstGeom prst="rect">
            <a:avLst/>
          </a:prstGeom>
          <a:noFill/>
        </p:spPr>
        <p:txBody>
          <a:bodyPr wrap="square">
            <a:spAutoFit/>
          </a:bodyPr>
          <a:lstStyle/>
          <a:p>
            <a:pPr>
              <a:defRPr sz="900" b="1">
                <a:solidFill>
                  <a:srgbClr val="0077C8"/>
                </a:solidFill>
                <a:latin typeface="Arial"/>
              </a:defRPr>
            </a:pPr>
            <a:r>
              <a:t>INTEGRASI SISTEM</a:t>
            </a:r>
          </a:p>
          <a:p>
            <a:pPr>
              <a:spcBef>
                <a:spcPts val="400"/>
              </a:spcBef>
              <a:defRPr sz="1100">
                <a:solidFill>
                  <a:srgbClr val="FFFFFF"/>
                </a:solidFill>
                <a:latin typeface="Arial"/>
              </a:defRPr>
            </a:pPr>
            <a:r>
              <a:t>CEISA Data Warehouse &amp; OpenMetadata Enterprise</a:t>
            </a:r>
          </a:p>
        </p:txBody>
      </p:sp>
      <p:sp>
        <p:nvSpPr>
          <p:cNvPr id="11" name="Rectangle 10"/>
          <p:cNvSpPr/>
          <p:nvPr/>
        </p:nvSpPr>
        <p:spPr>
          <a:xfrm>
            <a:off x="8046720" y="4846320"/>
            <a:ext cx="3383280" cy="1005840"/>
          </a:xfrm>
          <a:prstGeom prst="rect">
            <a:avLst/>
          </a:prstGeom>
          <a:solidFill>
            <a:srgbClr val="1A2E55"/>
          </a:solidFill>
          <a:ln w="12700">
            <a:solidFill>
              <a:srgbClr val="2844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983480"/>
            <a:ext cx="3017520" cy="731520"/>
          </a:xfrm>
          <a:prstGeom prst="rect">
            <a:avLst/>
          </a:prstGeom>
          <a:noFill/>
        </p:spPr>
        <p:txBody>
          <a:bodyPr wrap="square">
            <a:spAutoFit/>
          </a:bodyPr>
          <a:lstStyle/>
          <a:p>
            <a:pPr>
              <a:defRPr sz="900" b="1">
                <a:solidFill>
                  <a:srgbClr val="0077C8"/>
                </a:solidFill>
                <a:latin typeface="Arial"/>
              </a:defRPr>
            </a:pPr>
            <a:r>
              <a:t>STATUS DOKUMEN</a:t>
            </a:r>
          </a:p>
          <a:p>
            <a:pPr>
              <a:spcBef>
                <a:spcPts val="400"/>
              </a:spcBef>
              <a:defRPr sz="1100">
                <a:solidFill>
                  <a:srgbClr val="FFFFFF"/>
                </a:solidFill>
                <a:latin typeface="Arial"/>
              </a:defRPr>
            </a:pPr>
            <a:r>
              <a:t>Versi 2.0 Enterprise  |  Oktober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lIns="0" rIns="0" tIns="0" bIns="0">
            <a:spAutoFit/>
          </a:bodyPr>
          <a:lstStyle/>
          <a:p>
            <a:pPr>
              <a:defRPr sz="950" b="1">
                <a:solidFill>
                  <a:srgbClr val="0077C8"/>
                </a:solidFill>
                <a:latin typeface="Arial"/>
              </a:defRPr>
            </a:pPr>
            <a:r>
              <a:t>RINGKASAN EKSEKUTIF</a:t>
            </a:r>
          </a:p>
        </p:txBody>
      </p:sp>
      <p:sp>
        <p:nvSpPr>
          <p:cNvPr id="3" name="TextBox 2"/>
          <p:cNvSpPr txBox="1"/>
          <p:nvPr/>
        </p:nvSpPr>
        <p:spPr>
          <a:xfrm>
            <a:off x="731520" y="685800"/>
            <a:ext cx="10728655" cy="548640"/>
          </a:xfrm>
          <a:prstGeom prst="rect">
            <a:avLst/>
          </a:prstGeom>
          <a:noFill/>
        </p:spPr>
        <p:txBody>
          <a:bodyPr wrap="square" lIns="0" rIns="0" tIns="0" bIns="0">
            <a:spAutoFit/>
          </a:bodyPr>
          <a:lstStyle/>
          <a:p>
            <a:pPr>
              <a:defRPr sz="1900" b="1">
                <a:solidFill>
                  <a:srgbClr val="0F2042"/>
                </a:solidFill>
                <a:latin typeface="Arial"/>
              </a:defRPr>
            </a:pPr>
            <a:r>
              <a:t>DataRequestStudio mentransformasi pemenuhan data DJBC dari birokrasi manual menjadi platform swalayan yang aman, patuh PDP, dan terotomasi.</a:t>
            </a:r>
          </a:p>
        </p:txBody>
      </p:sp>
      <p:sp>
        <p:nvSpPr>
          <p:cNvPr id="4" name="TextBox 3"/>
          <p:cNvSpPr txBox="1"/>
          <p:nvPr/>
        </p:nvSpPr>
        <p:spPr>
          <a:xfrm>
            <a:off x="731520" y="1234440"/>
            <a:ext cx="10728655" cy="320040"/>
          </a:xfrm>
          <a:prstGeom prst="rect">
            <a:avLst/>
          </a:prstGeom>
          <a:noFill/>
        </p:spPr>
        <p:txBody>
          <a:bodyPr wrap="square" lIns="0" rIns="0" tIns="0" bIns="0">
            <a:spAutoFit/>
          </a:bodyPr>
          <a:lstStyle/>
          <a:p>
            <a:pPr>
              <a:defRPr sz="1100">
                <a:solidFill>
                  <a:srgbClr val="475569"/>
                </a:solidFill>
                <a:latin typeface="Arial"/>
              </a:defRPr>
            </a:pPr>
            <a:r>
              <a:t>Pendekatan 'Pyramid Principle': Inti proposisi nilai terbagi dalam 3 pilar operasional utama.</a:t>
            </a:r>
          </a:p>
        </p:txBody>
      </p:sp>
      <p:sp>
        <p:nvSpPr>
          <p:cNvPr id="5" name="Rectangle 4"/>
          <p:cNvSpPr/>
          <p:nvPr/>
        </p:nvSpPr>
        <p:spPr>
          <a:xfrm>
            <a:off x="731520" y="157276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383280" cy="36576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383280" cy="68580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3017520" cy="548640"/>
          </a:xfrm>
          <a:prstGeom prst="rect">
            <a:avLst/>
          </a:prstGeom>
          <a:noFill/>
        </p:spPr>
        <p:txBody>
          <a:bodyPr wrap="square">
            <a:spAutoFit/>
          </a:bodyPr>
          <a:lstStyle/>
          <a:p>
            <a:pPr>
              <a:defRPr sz="850" b="1">
                <a:solidFill>
                  <a:srgbClr val="CBD5E1"/>
                </a:solidFill>
                <a:latin typeface="Arial"/>
              </a:defRPr>
            </a:pPr>
            <a:r>
              <a:t>WHAT: PLATFORM PORTAL</a:t>
            </a:r>
          </a:p>
          <a:p>
            <a:pPr>
              <a:defRPr sz="1100" b="1">
                <a:solidFill>
                  <a:srgbClr val="FFFFFF"/>
                </a:solidFill>
                <a:latin typeface="Arial"/>
              </a:defRPr>
            </a:pPr>
            <a:r>
              <a:t>Portal Terpadu &amp; Terintegrasi</a:t>
            </a:r>
          </a:p>
        </p:txBody>
      </p:sp>
      <p:sp>
        <p:nvSpPr>
          <p:cNvPr id="9" name="TextBox 8"/>
          <p:cNvSpPr txBox="1"/>
          <p:nvPr/>
        </p:nvSpPr>
        <p:spPr>
          <a:xfrm>
            <a:off x="914400" y="2560320"/>
            <a:ext cx="3017520" cy="2743200"/>
          </a:xfrm>
          <a:prstGeom prst="rect">
            <a:avLst/>
          </a:prstGeom>
          <a:noFill/>
        </p:spPr>
        <p:txBody>
          <a:bodyPr wrap="square" lIns="0" rIns="0" tIns="0" bIns="0">
            <a:spAutoFit/>
          </a:bodyPr>
          <a:lstStyle/>
          <a:p>
            <a:pPr>
              <a:spcAft>
                <a:spcPts val="800"/>
              </a:spcAft>
              <a:defRPr sz="1000">
                <a:solidFill>
                  <a:srgbClr val="1E293B"/>
                </a:solidFill>
                <a:latin typeface="Arial"/>
              </a:defRPr>
            </a:pPr>
            <a:r>
              <a:t>•  Portal otomasi end-to-end permintaan data kepabeanan &amp; cukai.</a:t>
            </a:r>
          </a:p>
          <a:p>
            <a:pPr>
              <a:spcAft>
                <a:spcPts val="800"/>
              </a:spcAft>
              <a:defRPr sz="1000">
                <a:solidFill>
                  <a:srgbClr val="1E293B"/>
                </a:solidFill>
                <a:latin typeface="Arial"/>
              </a:defRPr>
            </a:pPr>
            <a:r>
              <a:t>•  Terintegrasi langsung dengan Katalog Enterprise OpenMetadata dan CEISA Data Warehouse.</a:t>
            </a:r>
          </a:p>
          <a:p>
            <a:pPr>
              <a:spcAft>
                <a:spcPts val="800"/>
              </a:spcAft>
              <a:defRPr sz="1000">
                <a:solidFill>
                  <a:srgbClr val="1E293B"/>
                </a:solidFill>
                <a:latin typeface="Arial"/>
              </a:defRPr>
            </a:pPr>
            <a:r>
              <a:t>•  Engine query multi-dialek (PostgreSQL, Oracle, SQLite) dengan validasi skema otomatis.</a:t>
            </a:r>
          </a:p>
          <a:p>
            <a:pPr>
              <a:spcAft>
                <a:spcPts val="800"/>
              </a:spcAft>
              <a:defRPr sz="1000">
                <a:solidFill>
                  <a:srgbClr val="1E293B"/>
                </a:solidFill>
                <a:latin typeface="Arial"/>
              </a:defRPr>
            </a:pPr>
            <a:r>
              <a:t>•  Sistem repositori (CMS) pemantauan permohonan dan repositori data aset dinas.</a:t>
            </a:r>
          </a:p>
        </p:txBody>
      </p:sp>
      <p:sp>
        <p:nvSpPr>
          <p:cNvPr id="10" name="Rectangle 9"/>
          <p:cNvSpPr/>
          <p:nvPr/>
        </p:nvSpPr>
        <p:spPr>
          <a:xfrm>
            <a:off x="4389120" y="1737360"/>
            <a:ext cx="3383280" cy="36576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737360"/>
            <a:ext cx="3383280" cy="685800"/>
          </a:xfrm>
          <a:prstGeom prst="rect">
            <a:avLst/>
          </a:prstGeom>
          <a:solidFill>
            <a:srgbClr val="0077C8"/>
          </a:solidFill>
          <a:ln>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10512"/>
            <a:ext cx="3017520" cy="548640"/>
          </a:xfrm>
          <a:prstGeom prst="rect">
            <a:avLst/>
          </a:prstGeom>
          <a:noFill/>
        </p:spPr>
        <p:txBody>
          <a:bodyPr wrap="square">
            <a:spAutoFit/>
          </a:bodyPr>
          <a:lstStyle/>
          <a:p>
            <a:pPr>
              <a:defRPr sz="850" b="1">
                <a:solidFill>
                  <a:srgbClr val="CBD5E1"/>
                </a:solidFill>
                <a:latin typeface="Arial"/>
              </a:defRPr>
            </a:pPr>
            <a:r>
              <a:t>WHY: URGENSI &amp; BENEFIT</a:t>
            </a:r>
          </a:p>
          <a:p>
            <a:pPr>
              <a:defRPr sz="1100" b="1">
                <a:solidFill>
                  <a:srgbClr val="FFFFFF"/>
                </a:solidFill>
                <a:latin typeface="Arial"/>
              </a:defRPr>
            </a:pPr>
            <a:r>
              <a:t>Reduksi Lead Time &amp; Jaminan PDP</a:t>
            </a:r>
          </a:p>
        </p:txBody>
      </p:sp>
      <p:sp>
        <p:nvSpPr>
          <p:cNvPr id="13" name="TextBox 12"/>
          <p:cNvSpPr txBox="1"/>
          <p:nvPr/>
        </p:nvSpPr>
        <p:spPr>
          <a:xfrm>
            <a:off x="4572000" y="2560320"/>
            <a:ext cx="3017520" cy="2743200"/>
          </a:xfrm>
          <a:prstGeom prst="rect">
            <a:avLst/>
          </a:prstGeom>
          <a:noFill/>
        </p:spPr>
        <p:txBody>
          <a:bodyPr wrap="square" lIns="0" rIns="0" tIns="0" bIns="0">
            <a:spAutoFit/>
          </a:bodyPr>
          <a:lstStyle/>
          <a:p>
            <a:pPr>
              <a:spcAft>
                <a:spcPts val="800"/>
              </a:spcAft>
              <a:defRPr sz="1000">
                <a:solidFill>
                  <a:srgbClr val="1E293B"/>
                </a:solidFill>
                <a:latin typeface="Arial"/>
              </a:defRPr>
            </a:pPr>
            <a:r>
              <a:t>•  Memangkas waktu tunggu dari 14-30 hari kerja menjadi &lt;24-48 jam.</a:t>
            </a:r>
          </a:p>
          <a:p>
            <a:pPr>
              <a:spcAft>
                <a:spcPts val="800"/>
              </a:spcAft>
              <a:defRPr sz="1000">
                <a:solidFill>
                  <a:srgbClr val="1E293B"/>
                </a:solidFill>
                <a:latin typeface="Arial"/>
              </a:defRPr>
            </a:pPr>
            <a:r>
              <a:t>•  Penegakan otomatis UU PDP No. 27/2022 melalui Dynamic Field Masking (NIK, NPWP, Rekening).</a:t>
            </a:r>
          </a:p>
          <a:p>
            <a:pPr>
              <a:spcAft>
                <a:spcPts val="800"/>
              </a:spcAft>
              <a:defRPr sz="1000">
                <a:solidFill>
                  <a:srgbClr val="1E293B"/>
                </a:solidFill>
                <a:latin typeface="Arial"/>
              </a:defRPr>
            </a:pPr>
            <a:r>
              <a:t>•  Menghilangkan penumpukan tiket ad-hoc dan beban kueri manual tim DWH.</a:t>
            </a:r>
          </a:p>
          <a:p>
            <a:pPr>
              <a:spcAft>
                <a:spcPts val="800"/>
              </a:spcAft>
              <a:defRPr sz="1000">
                <a:solidFill>
                  <a:srgbClr val="1E293B"/>
                </a:solidFill>
                <a:latin typeface="Arial"/>
              </a:defRPr>
            </a:pPr>
            <a:r>
              <a:t>•  100% audit trail transparan dengan tanda tangan digital &amp; verifikasi berjenjang.</a:t>
            </a:r>
          </a:p>
        </p:txBody>
      </p:sp>
      <p:sp>
        <p:nvSpPr>
          <p:cNvPr id="14" name="Rectangle 13"/>
          <p:cNvSpPr/>
          <p:nvPr/>
        </p:nvSpPr>
        <p:spPr>
          <a:xfrm>
            <a:off x="8046720" y="1737360"/>
            <a:ext cx="3383280" cy="36576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737360"/>
            <a:ext cx="3383280" cy="68580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10512"/>
            <a:ext cx="3017520" cy="548640"/>
          </a:xfrm>
          <a:prstGeom prst="rect">
            <a:avLst/>
          </a:prstGeom>
          <a:noFill/>
        </p:spPr>
        <p:txBody>
          <a:bodyPr wrap="square">
            <a:spAutoFit/>
          </a:bodyPr>
          <a:lstStyle/>
          <a:p>
            <a:pPr>
              <a:defRPr sz="850" b="1">
                <a:solidFill>
                  <a:srgbClr val="CBD5E1"/>
                </a:solidFill>
                <a:latin typeface="Arial"/>
              </a:defRPr>
            </a:pPr>
            <a:r>
              <a:t>HOW TO ACCESS: ALUR AKSES</a:t>
            </a:r>
          </a:p>
          <a:p>
            <a:pPr>
              <a:defRPr sz="1100" b="1">
                <a:solidFill>
                  <a:srgbClr val="FFFFFF"/>
                </a:solidFill>
                <a:latin typeface="Arial"/>
              </a:defRPr>
            </a:pPr>
            <a:r>
              <a:t>Akses Swalayan Berbasis Peran</a:t>
            </a:r>
          </a:p>
        </p:txBody>
      </p:sp>
      <p:sp>
        <p:nvSpPr>
          <p:cNvPr id="17" name="TextBox 16"/>
          <p:cNvSpPr txBox="1"/>
          <p:nvPr/>
        </p:nvSpPr>
        <p:spPr>
          <a:xfrm>
            <a:off x="8229600" y="2560320"/>
            <a:ext cx="3017520" cy="2743200"/>
          </a:xfrm>
          <a:prstGeom prst="rect">
            <a:avLst/>
          </a:prstGeom>
          <a:noFill/>
        </p:spPr>
        <p:txBody>
          <a:bodyPr wrap="square" lIns="0" rIns="0" tIns="0" bIns="0">
            <a:spAutoFit/>
          </a:bodyPr>
          <a:lstStyle/>
          <a:p>
            <a:pPr>
              <a:spcAft>
                <a:spcPts val="800"/>
              </a:spcAft>
              <a:defRPr sz="1000">
                <a:solidFill>
                  <a:srgbClr val="1E293B"/>
                </a:solidFill>
                <a:latin typeface="Arial"/>
              </a:defRPr>
            </a:pPr>
            <a:r>
              <a:t>•  Akses langsung melalui portal peramban web internal DJBC / demo publik.</a:t>
            </a:r>
          </a:p>
          <a:p>
            <a:pPr>
              <a:spcAft>
                <a:spcPts val="800"/>
              </a:spcAft>
              <a:defRPr sz="1000">
                <a:solidFill>
                  <a:srgbClr val="1E293B"/>
                </a:solidFill>
                <a:latin typeface="Arial"/>
              </a:defRPr>
            </a:pPr>
            <a:r>
              <a:t>•  Otentikasi aman berbasis Single Sign-On (SSO) Kemenkeu &amp; RBAC 4-peran.</a:t>
            </a:r>
          </a:p>
          <a:p>
            <a:pPr>
              <a:spcAft>
                <a:spcPts val="800"/>
              </a:spcAft>
              <a:defRPr sz="1000">
                <a:solidFill>
                  <a:srgbClr val="1E293B"/>
                </a:solidFill>
                <a:latin typeface="Arial"/>
              </a:defRPr>
            </a:pPr>
            <a:r>
              <a:t>•  Alur 4 tahap: Eksplorasi katalog -&gt; Penyusunan form -&gt; Review Steward -&gt; Unduh aman.</a:t>
            </a:r>
          </a:p>
          <a:p>
            <a:pPr>
              <a:spcAft>
                <a:spcPts val="800"/>
              </a:spcAft>
              <a:defRPr sz="1000">
                <a:solidFill>
                  <a:srgbClr val="1E293B"/>
                </a:solidFill>
                <a:latin typeface="Arial"/>
              </a:defRPr>
            </a:pPr>
            <a:r>
              <a:t>•  Dukungan helpdesk terpadu Subdirektorat DWH dengan SLA respon 2 jam.</a:t>
            </a:r>
          </a:p>
        </p:txBody>
      </p:sp>
      <p:sp>
        <p:nvSpPr>
          <p:cNvPr id="18" name="Rectangle 17"/>
          <p:cNvSpPr/>
          <p:nvPr/>
        </p:nvSpPr>
        <p:spPr>
          <a:xfrm>
            <a:off x="731520" y="5577840"/>
            <a:ext cx="10728655" cy="640080"/>
          </a:xfrm>
          <a:prstGeom prst="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23560"/>
            <a:ext cx="10362895" cy="548640"/>
          </a:xfrm>
          <a:prstGeom prst="rect">
            <a:avLst/>
          </a:prstGeom>
          <a:noFill/>
        </p:spPr>
        <p:txBody>
          <a:bodyPr wrap="square">
            <a:spAutoFit/>
          </a:bodyPr>
          <a:lstStyle/>
          <a:p>
            <a:pPr>
              <a:defRPr sz="1050" b="1">
                <a:solidFill>
                  <a:srgbClr val="1A365D"/>
                </a:solidFill>
                <a:latin typeface="Arial"/>
              </a:defRPr>
            </a:pPr>
            <a:r>
              <a:t>KESIMPULAN EKSEKUTIF: DataRequestStudio menjawab kesenjangan antara lonjakan kebutuhan analitik dinas dan tuntutan kepatuhan data privat, menghasilkan efisiensi tata kelola data hingga 85%.</a:t>
            </a:r>
          </a:p>
        </p:txBody>
      </p:sp>
      <p:sp>
        <p:nvSpPr>
          <p:cNvPr id="20" name="TextBox 19"/>
          <p:cNvSpPr txBox="1"/>
          <p:nvPr/>
        </p:nvSpPr>
        <p:spPr>
          <a:xfrm>
            <a:off x="731520" y="6446520"/>
            <a:ext cx="5486400" cy="228600"/>
          </a:xfrm>
          <a:prstGeom prst="rect">
            <a:avLst/>
          </a:prstGeom>
          <a:noFill/>
        </p:spPr>
        <p:txBody>
          <a:bodyPr wrap="none" lIns="0" rIns="0" tIns="0" bIns="0">
            <a:spAutoFit/>
          </a:bodyPr>
          <a:lstStyle/>
          <a:p>
            <a:pPr>
              <a:defRPr sz="850">
                <a:solidFill>
                  <a:srgbClr val="475569"/>
                </a:solidFill>
                <a:latin typeface="Arial"/>
              </a:defRPr>
            </a:pPr>
            <a:r>
              <a:t>DataRequestStudio | Transformasi Tata Kelola Data CEISA Data Warehouse</a:t>
            </a:r>
          </a:p>
        </p:txBody>
      </p:sp>
      <p:sp>
        <p:nvSpPr>
          <p:cNvPr id="21" name="TextBox 20"/>
          <p:cNvSpPr txBox="1"/>
          <p:nvPr/>
        </p:nvSpPr>
        <p:spPr>
          <a:xfrm>
            <a:off x="4572000" y="6446520"/>
            <a:ext cx="3047695" cy="228600"/>
          </a:xfrm>
          <a:prstGeom prst="rect">
            <a:avLst/>
          </a:prstGeom>
          <a:noFill/>
        </p:spPr>
        <p:txBody>
          <a:bodyPr wrap="none" lIns="0" rIns="0" tIns="0" bIns="0">
            <a:spAutoFit/>
          </a:bodyPr>
          <a:lstStyle/>
          <a:p>
            <a:pPr algn="ctr">
              <a:defRPr sz="850">
                <a:solidFill>
                  <a:srgbClr val="475569"/>
                </a:solidFill>
                <a:latin typeface="Arial"/>
              </a:defRPr>
            </a:pPr>
            <a:r>
              <a:t>Klasifikasi: Terbatas / Khusus DJBC &amp; Kemenkeu</a:t>
            </a:r>
          </a:p>
        </p:txBody>
      </p:sp>
      <p:sp>
        <p:nvSpPr>
          <p:cNvPr id="22" name="TextBox 21"/>
          <p:cNvSpPr txBox="1"/>
          <p:nvPr/>
        </p:nvSpPr>
        <p:spPr>
          <a:xfrm>
            <a:off x="9631375" y="6446520"/>
            <a:ext cx="1828800" cy="228600"/>
          </a:xfrm>
          <a:prstGeom prst="rect">
            <a:avLst/>
          </a:prstGeom>
          <a:noFill/>
        </p:spPr>
        <p:txBody>
          <a:bodyPr wrap="none" lIns="0" rIns="0" tIns="0" bIns="0">
            <a:spAutoFit/>
          </a:bodyPr>
          <a:lstStyle/>
          <a:p>
            <a:pPr algn="r">
              <a:defRPr sz="850">
                <a:solidFill>
                  <a:srgbClr val="475569"/>
                </a:solidFill>
                <a:latin typeface="Arial"/>
              </a:defRPr>
            </a:pPr>
            <a:r>
              <a:t>Slide 2 dari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lIns="0" rIns="0" tIns="0" bIns="0">
            <a:spAutoFit/>
          </a:bodyPr>
          <a:lstStyle/>
          <a:p>
            <a:pPr>
              <a:defRPr sz="950" b="1">
                <a:solidFill>
                  <a:srgbClr val="0077C8"/>
                </a:solidFill>
                <a:latin typeface="Arial"/>
              </a:defRPr>
            </a:pPr>
            <a:r>
              <a:t>WHAT — DEFINISI &amp; ARSITEKTUR PLATFORM</a:t>
            </a:r>
          </a:p>
        </p:txBody>
      </p:sp>
      <p:sp>
        <p:nvSpPr>
          <p:cNvPr id="3" name="TextBox 2"/>
          <p:cNvSpPr txBox="1"/>
          <p:nvPr/>
        </p:nvSpPr>
        <p:spPr>
          <a:xfrm>
            <a:off x="731520" y="685800"/>
            <a:ext cx="10728655" cy="548640"/>
          </a:xfrm>
          <a:prstGeom prst="rect">
            <a:avLst/>
          </a:prstGeom>
          <a:noFill/>
        </p:spPr>
        <p:txBody>
          <a:bodyPr wrap="square" lIns="0" rIns="0" tIns="0" bIns="0">
            <a:spAutoFit/>
          </a:bodyPr>
          <a:lstStyle/>
          <a:p>
            <a:pPr>
              <a:defRPr sz="1900" b="1">
                <a:solidFill>
                  <a:srgbClr val="0F2042"/>
                </a:solidFill>
                <a:latin typeface="Arial"/>
              </a:defRPr>
            </a:pPr>
            <a:r>
              <a:t>Platform mengintegrasikan katalog semantik DWH, engine kepatuhan PDP, dan repositori permohonan ke dalam satu sistem terpadu.</a:t>
            </a:r>
          </a:p>
        </p:txBody>
      </p:sp>
      <p:sp>
        <p:nvSpPr>
          <p:cNvPr id="4" name="TextBox 3"/>
          <p:cNvSpPr txBox="1"/>
          <p:nvPr/>
        </p:nvSpPr>
        <p:spPr>
          <a:xfrm>
            <a:off x="731520" y="1234440"/>
            <a:ext cx="10728655" cy="320040"/>
          </a:xfrm>
          <a:prstGeom prst="rect">
            <a:avLst/>
          </a:prstGeom>
          <a:noFill/>
        </p:spPr>
        <p:txBody>
          <a:bodyPr wrap="square" lIns="0" rIns="0" tIns="0" bIns="0">
            <a:spAutoFit/>
          </a:bodyPr>
          <a:lstStyle/>
          <a:p>
            <a:pPr>
              <a:defRPr sz="1100">
                <a:solidFill>
                  <a:srgbClr val="475569"/>
                </a:solidFill>
                <a:latin typeface="Arial"/>
              </a:defRPr>
            </a:pPr>
            <a:r>
              <a:t>Arsitektur modular menjamin keandalan skalabilitas, interoperabilitas multi-database, dan integritas data.</a:t>
            </a:r>
          </a:p>
        </p:txBody>
      </p:sp>
      <p:sp>
        <p:nvSpPr>
          <p:cNvPr id="5" name="Rectangle 4"/>
          <p:cNvSpPr/>
          <p:nvPr/>
        </p:nvSpPr>
        <p:spPr>
          <a:xfrm>
            <a:off x="731520" y="157276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5212080" cy="2057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109728" cy="2057400"/>
          </a:xfrm>
          <a:prstGeom prst="rect">
            <a:avLst/>
          </a:prstGeom>
          <a:solidFill>
            <a:srgbClr val="0077C8"/>
          </a:solidFill>
          <a:ln>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74520"/>
            <a:ext cx="4754880" cy="1783080"/>
          </a:xfrm>
          <a:prstGeom prst="rect">
            <a:avLst/>
          </a:prstGeom>
          <a:noFill/>
        </p:spPr>
        <p:txBody>
          <a:bodyPr wrap="square" lIns="0" rIns="0" tIns="0" bIns="0">
            <a:spAutoFit/>
          </a:bodyPr>
          <a:lstStyle/>
          <a:p>
            <a:pPr>
              <a:defRPr sz="1250" b="1">
                <a:solidFill>
                  <a:srgbClr val="0F2042"/>
                </a:solidFill>
                <a:latin typeface="Arial"/>
              </a:defRPr>
            </a:pPr>
            <a:r>
              <a:t>1. Enterprise Semantic Catalog</a:t>
            </a:r>
          </a:p>
          <a:p>
            <a:pPr>
              <a:spcAft>
                <a:spcPts val="600"/>
              </a:spcAft>
              <a:defRPr sz="1000" b="1">
                <a:solidFill>
                  <a:srgbClr val="0077C8"/>
                </a:solidFill>
                <a:latin typeface="Arial"/>
              </a:defRPr>
            </a:pPr>
            <a:r>
              <a:t>Integrasi OpenMetadata &amp; CEISA DWH</a:t>
            </a:r>
          </a:p>
          <a:p>
            <a:pPr>
              <a:defRPr sz="950">
                <a:solidFill>
                  <a:srgbClr val="1E293B"/>
                </a:solidFill>
                <a:latin typeface="Arial"/>
              </a:defRPr>
            </a:pPr>
            <a:r>
              <a:t>Menyediakan navigasi visual terhadap skema database kepabeanan dan cukai. Pengguna dapat mengeksplorasi kamus data (data dictionary), lineage kolom, tipe data, serta deskripsi bisnis tanpa perlu mengakses server basis data secara langsung.</a:t>
            </a:r>
          </a:p>
        </p:txBody>
      </p:sp>
      <p:sp>
        <p:nvSpPr>
          <p:cNvPr id="9" name="Rectangle 8"/>
          <p:cNvSpPr/>
          <p:nvPr/>
        </p:nvSpPr>
        <p:spPr>
          <a:xfrm>
            <a:off x="6217920" y="1737360"/>
            <a:ext cx="5212080" cy="2057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737360"/>
            <a:ext cx="109728" cy="205740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74520"/>
            <a:ext cx="4754880" cy="1783080"/>
          </a:xfrm>
          <a:prstGeom prst="rect">
            <a:avLst/>
          </a:prstGeom>
          <a:noFill/>
        </p:spPr>
        <p:txBody>
          <a:bodyPr wrap="square" lIns="0" rIns="0" tIns="0" bIns="0">
            <a:spAutoFit/>
          </a:bodyPr>
          <a:lstStyle/>
          <a:p>
            <a:pPr>
              <a:defRPr sz="1250" b="1">
                <a:solidFill>
                  <a:srgbClr val="0F2042"/>
                </a:solidFill>
                <a:latin typeface="Arial"/>
              </a:defRPr>
            </a:pPr>
            <a:r>
              <a:t>2. Multi-Role Governance Engine</a:t>
            </a:r>
          </a:p>
          <a:p>
            <a:pPr>
              <a:spcAft>
                <a:spcPts val="600"/>
              </a:spcAft>
              <a:defRPr sz="1000" b="1">
                <a:solidFill>
                  <a:srgbClr val="0F2042"/>
                </a:solidFill>
                <a:latin typeface="Arial"/>
              </a:defRPr>
            </a:pPr>
            <a:r>
              <a:t>Pemisahan Tugas &amp; Persetujuan Berjenjang</a:t>
            </a:r>
          </a:p>
          <a:p>
            <a:pPr>
              <a:defRPr sz="950">
                <a:solidFill>
                  <a:srgbClr val="1E293B"/>
                </a:solidFill>
                <a:latin typeface="Arial"/>
              </a:defRPr>
            </a:pPr>
            <a:r>
              <a:t>Menerapkan prinsip 'Separation of Duties' dengan 4 peran spesifik: Requester, Data Steward, Data Analyst, dan Data Engineer. Setiap alur permohonan melalui verifikasi justifikasi dinas, review kepatuhan, dan penandatanganan digital resmi.</a:t>
            </a:r>
          </a:p>
        </p:txBody>
      </p:sp>
      <p:sp>
        <p:nvSpPr>
          <p:cNvPr id="12" name="Rectangle 11"/>
          <p:cNvSpPr/>
          <p:nvPr/>
        </p:nvSpPr>
        <p:spPr>
          <a:xfrm>
            <a:off x="731520" y="3977639"/>
            <a:ext cx="5212080" cy="2057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977639"/>
            <a:ext cx="109728" cy="2057400"/>
          </a:xfrm>
          <a:prstGeom prst="rect">
            <a:avLst/>
          </a:prstGeom>
          <a:solidFill>
            <a:srgbClr val="109577"/>
          </a:solidFill>
          <a:ln>
            <a:solidFill>
              <a:srgbClr val="109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799"/>
            <a:ext cx="4754880" cy="1783080"/>
          </a:xfrm>
          <a:prstGeom prst="rect">
            <a:avLst/>
          </a:prstGeom>
          <a:noFill/>
        </p:spPr>
        <p:txBody>
          <a:bodyPr wrap="square" lIns="0" rIns="0" tIns="0" bIns="0">
            <a:spAutoFit/>
          </a:bodyPr>
          <a:lstStyle/>
          <a:p>
            <a:pPr>
              <a:defRPr sz="1250" b="1">
                <a:solidFill>
                  <a:srgbClr val="0F2042"/>
                </a:solidFill>
                <a:latin typeface="Arial"/>
              </a:defRPr>
            </a:pPr>
            <a:r>
              <a:t>3. Automated PDP &amp; Security Masking</a:t>
            </a:r>
          </a:p>
          <a:p>
            <a:pPr>
              <a:spcAft>
                <a:spcPts val="600"/>
              </a:spcAft>
              <a:defRPr sz="1000" b="1">
                <a:solidFill>
                  <a:srgbClr val="109577"/>
                </a:solidFill>
                <a:latin typeface="Arial"/>
              </a:defRPr>
            </a:pPr>
            <a:r>
              <a:t>Proteksi Otomatis Data Pribadi</a:t>
            </a:r>
          </a:p>
          <a:p>
            <a:pPr>
              <a:defRPr sz="950">
                <a:solidFill>
                  <a:srgbClr val="1E293B"/>
                </a:solidFill>
                <a:latin typeface="Arial"/>
              </a:defRPr>
            </a:pPr>
            <a:r>
              <a:t>Mendeteksi secara proaktif atribut bernilai pribadi (PII) seperti NIK, NPWP pribadi, nomor paspor, dan rekening bank. Sistem menerapkan masking dinamis dan tokenisasi sebelum hasil diekstrak ke dalam format Excel atau ZIP terenkripsi.</a:t>
            </a:r>
          </a:p>
        </p:txBody>
      </p:sp>
      <p:sp>
        <p:nvSpPr>
          <p:cNvPr id="15" name="Rectangle 14"/>
          <p:cNvSpPr/>
          <p:nvPr/>
        </p:nvSpPr>
        <p:spPr>
          <a:xfrm>
            <a:off x="6217920" y="3977639"/>
            <a:ext cx="5212080" cy="20574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977639"/>
            <a:ext cx="109728" cy="205740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4114799"/>
            <a:ext cx="4754880" cy="1783080"/>
          </a:xfrm>
          <a:prstGeom prst="rect">
            <a:avLst/>
          </a:prstGeom>
          <a:noFill/>
        </p:spPr>
        <p:txBody>
          <a:bodyPr wrap="square" lIns="0" rIns="0" tIns="0" bIns="0">
            <a:spAutoFit/>
          </a:bodyPr>
          <a:lstStyle/>
          <a:p>
            <a:pPr>
              <a:defRPr sz="1250" b="1">
                <a:solidFill>
                  <a:srgbClr val="0F2042"/>
                </a:solidFill>
                <a:latin typeface="Arial"/>
              </a:defRPr>
            </a:pPr>
            <a:r>
              <a:t>4. CMS Repository &amp; Audit Trail</a:t>
            </a:r>
          </a:p>
          <a:p>
            <a:pPr>
              <a:spcAft>
                <a:spcPts val="600"/>
              </a:spcAft>
              <a:defRPr sz="1000" b="1">
                <a:solidFill>
                  <a:srgbClr val="D97706"/>
                </a:solidFill>
                <a:latin typeface="Arial"/>
              </a:defRPr>
            </a:pPr>
            <a:r>
              <a:t>Pusat Pemantauan &amp; Jejak Rekam Digital</a:t>
            </a:r>
          </a:p>
          <a:p>
            <a:pPr>
              <a:defRPr sz="950">
                <a:solidFill>
                  <a:srgbClr val="1E293B"/>
                </a:solidFill>
                <a:latin typeface="Arial"/>
              </a:defRPr>
            </a:pPr>
            <a:r>
              <a:t>Repositori terpusat untuk memantau status permohonan (Disetujui, Perlu Revisi, Ditolak). Dilengkapi metrik latensi DWH, SLA counter, pencarian instan, dan log audit forensik lengkap yang dapat dipertanggungjawabkan kepada auditor.</a:t>
            </a:r>
          </a:p>
        </p:txBody>
      </p:sp>
      <p:sp>
        <p:nvSpPr>
          <p:cNvPr id="18" name="TextBox 17"/>
          <p:cNvSpPr txBox="1"/>
          <p:nvPr/>
        </p:nvSpPr>
        <p:spPr>
          <a:xfrm>
            <a:off x="731520" y="6446520"/>
            <a:ext cx="5486400" cy="228600"/>
          </a:xfrm>
          <a:prstGeom prst="rect">
            <a:avLst/>
          </a:prstGeom>
          <a:noFill/>
        </p:spPr>
        <p:txBody>
          <a:bodyPr wrap="none" lIns="0" rIns="0" tIns="0" bIns="0">
            <a:spAutoFit/>
          </a:bodyPr>
          <a:lstStyle/>
          <a:p>
            <a:pPr>
              <a:defRPr sz="850">
                <a:solidFill>
                  <a:srgbClr val="475569"/>
                </a:solidFill>
                <a:latin typeface="Arial"/>
              </a:defRPr>
            </a:pPr>
            <a:r>
              <a:t>DataRequestStudio | Transformasi Tata Kelola Data CEISA Data Warehouse</a:t>
            </a:r>
          </a:p>
        </p:txBody>
      </p:sp>
      <p:sp>
        <p:nvSpPr>
          <p:cNvPr id="19" name="TextBox 18"/>
          <p:cNvSpPr txBox="1"/>
          <p:nvPr/>
        </p:nvSpPr>
        <p:spPr>
          <a:xfrm>
            <a:off x="4572000" y="6446520"/>
            <a:ext cx="3047695" cy="228600"/>
          </a:xfrm>
          <a:prstGeom prst="rect">
            <a:avLst/>
          </a:prstGeom>
          <a:noFill/>
        </p:spPr>
        <p:txBody>
          <a:bodyPr wrap="none" lIns="0" rIns="0" tIns="0" bIns="0">
            <a:spAutoFit/>
          </a:bodyPr>
          <a:lstStyle/>
          <a:p>
            <a:pPr algn="ctr">
              <a:defRPr sz="850">
                <a:solidFill>
                  <a:srgbClr val="475569"/>
                </a:solidFill>
                <a:latin typeface="Arial"/>
              </a:defRPr>
            </a:pPr>
            <a:r>
              <a:t>Klasifikasi: Terbatas / Khusus DJBC &amp; Kemenkeu</a:t>
            </a:r>
          </a:p>
        </p:txBody>
      </p:sp>
      <p:sp>
        <p:nvSpPr>
          <p:cNvPr id="20" name="TextBox 19"/>
          <p:cNvSpPr txBox="1"/>
          <p:nvPr/>
        </p:nvSpPr>
        <p:spPr>
          <a:xfrm>
            <a:off x="9631375" y="6446520"/>
            <a:ext cx="1828800" cy="228600"/>
          </a:xfrm>
          <a:prstGeom prst="rect">
            <a:avLst/>
          </a:prstGeom>
          <a:noFill/>
        </p:spPr>
        <p:txBody>
          <a:bodyPr wrap="none" lIns="0" rIns="0" tIns="0" bIns="0">
            <a:spAutoFit/>
          </a:bodyPr>
          <a:lstStyle/>
          <a:p>
            <a:pPr algn="r">
              <a:defRPr sz="850">
                <a:solidFill>
                  <a:srgbClr val="475569"/>
                </a:solidFill>
                <a:latin typeface="Arial"/>
              </a:defRPr>
            </a:pPr>
            <a:r>
              <a:t>Slide 3 dari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lIns="0" rIns="0" tIns="0" bIns="0">
            <a:spAutoFit/>
          </a:bodyPr>
          <a:lstStyle/>
          <a:p>
            <a:pPr>
              <a:defRPr sz="950" b="1">
                <a:solidFill>
                  <a:srgbClr val="0077C8"/>
                </a:solidFill>
                <a:latin typeface="Arial"/>
              </a:defRPr>
            </a:pPr>
            <a:r>
              <a:t>WHAT — CAKUPAN PROSES BISNIS &amp; DATA DOMAIN</a:t>
            </a:r>
          </a:p>
        </p:txBody>
      </p:sp>
      <p:sp>
        <p:nvSpPr>
          <p:cNvPr id="3" name="TextBox 2"/>
          <p:cNvSpPr txBox="1"/>
          <p:nvPr/>
        </p:nvSpPr>
        <p:spPr>
          <a:xfrm>
            <a:off x="731520" y="685800"/>
            <a:ext cx="10728655" cy="548640"/>
          </a:xfrm>
          <a:prstGeom prst="rect">
            <a:avLst/>
          </a:prstGeom>
          <a:noFill/>
        </p:spPr>
        <p:txBody>
          <a:bodyPr wrap="square" lIns="0" rIns="0" tIns="0" bIns="0">
            <a:spAutoFit/>
          </a:bodyPr>
          <a:lstStyle/>
          <a:p>
            <a:pPr>
              <a:defRPr sz="1900" b="1">
                <a:solidFill>
                  <a:srgbClr val="0F2042"/>
                </a:solidFill>
                <a:latin typeface="Arial"/>
              </a:defRPr>
            </a:pPr>
            <a:r>
              <a:t>DataRequestStudio mencakup seluruh pilar proses bisnis kepabeanan dan cukai dengan pemetaan tabel terstandarisasi di CEISA DWH.</a:t>
            </a:r>
          </a:p>
        </p:txBody>
      </p:sp>
      <p:sp>
        <p:nvSpPr>
          <p:cNvPr id="4" name="TextBox 3"/>
          <p:cNvSpPr txBox="1"/>
          <p:nvPr/>
        </p:nvSpPr>
        <p:spPr>
          <a:xfrm>
            <a:off x="731520" y="1234440"/>
            <a:ext cx="10728655" cy="320040"/>
          </a:xfrm>
          <a:prstGeom prst="rect">
            <a:avLst/>
          </a:prstGeom>
          <a:noFill/>
        </p:spPr>
        <p:txBody>
          <a:bodyPr wrap="square" lIns="0" rIns="0" tIns="0" bIns="0">
            <a:spAutoFit/>
          </a:bodyPr>
          <a:lstStyle/>
          <a:p>
            <a:pPr>
              <a:defRPr sz="1100">
                <a:solidFill>
                  <a:srgbClr val="475569"/>
                </a:solidFill>
                <a:latin typeface="Arial"/>
              </a:defRPr>
            </a:pPr>
            <a:r>
              <a:t>Klasifikasi entitas memudahkan pemohon memilih parameter data sesuai yurisdiksi dan kewenangan tugas.</a:t>
            </a:r>
          </a:p>
        </p:txBody>
      </p:sp>
      <p:sp>
        <p:nvSpPr>
          <p:cNvPr id="5" name="Rectangle 4"/>
          <p:cNvSpPr/>
          <p:nvPr/>
        </p:nvSpPr>
        <p:spPr>
          <a:xfrm>
            <a:off x="731520" y="157276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383280" cy="1874519"/>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47088"/>
            <a:ext cx="3017520" cy="502920"/>
          </a:xfrm>
          <a:prstGeom prst="rect">
            <a:avLst/>
          </a:prstGeom>
          <a:noFill/>
        </p:spPr>
        <p:txBody>
          <a:bodyPr wrap="square" lIns="0" rIns="0" tIns="0" bIns="0">
            <a:spAutoFit/>
          </a:bodyPr>
          <a:lstStyle/>
          <a:p>
            <a:pPr>
              <a:defRPr sz="1100" b="1">
                <a:solidFill>
                  <a:srgbClr val="0F2042"/>
                </a:solidFill>
                <a:latin typeface="Arial"/>
              </a:defRPr>
            </a:pPr>
            <a:r>
              <a:t>1. IMPOR</a:t>
            </a:r>
          </a:p>
          <a:p>
            <a:pPr>
              <a:defRPr sz="900" b="1">
                <a:solidFill>
                  <a:srgbClr val="0077C8"/>
                </a:solidFill>
                <a:latin typeface="Arial"/>
              </a:defRPr>
            </a:pPr>
            <a:r>
              <a:t>PIB BC 2.0 &amp; Dokumen Pelengkap</a:t>
            </a:r>
          </a:p>
        </p:txBody>
      </p:sp>
      <p:sp>
        <p:nvSpPr>
          <p:cNvPr id="8" name="TextBox 7"/>
          <p:cNvSpPr txBox="1"/>
          <p:nvPr/>
        </p:nvSpPr>
        <p:spPr>
          <a:xfrm>
            <a:off x="914400" y="2377440"/>
            <a:ext cx="3017520" cy="1143000"/>
          </a:xfrm>
          <a:prstGeom prst="rect">
            <a:avLst/>
          </a:prstGeom>
          <a:noFill/>
        </p:spPr>
        <p:txBody>
          <a:bodyPr wrap="square" lIns="0" rIns="0" tIns="0" bIns="0">
            <a:spAutoFit/>
          </a:bodyPr>
          <a:lstStyle/>
          <a:p>
            <a:pPr>
              <a:spcAft>
                <a:spcPts val="200"/>
              </a:spcAft>
              <a:defRPr sz="900">
                <a:solidFill>
                  <a:srgbClr val="1E293B"/>
                </a:solidFill>
                <a:latin typeface="Arial"/>
              </a:defRPr>
            </a:pPr>
            <a:r>
              <a:t>• Header &amp; Dokumen PIB BC 2.0</a:t>
            </a:r>
          </a:p>
          <a:p>
            <a:pPr>
              <a:spcAft>
                <a:spcPts val="200"/>
              </a:spcAft>
              <a:defRPr sz="900">
                <a:solidFill>
                  <a:srgbClr val="1E293B"/>
                </a:solidFill>
                <a:latin typeface="Arial"/>
              </a:defRPr>
            </a:pPr>
            <a:r>
              <a:t>• Item Barang, HS Code, &amp; Tarif Bea Masuk</a:t>
            </a:r>
          </a:p>
          <a:p>
            <a:pPr>
              <a:spcAft>
                <a:spcPts val="200"/>
              </a:spcAft>
              <a:defRPr sz="900">
                <a:solidFill>
                  <a:srgbClr val="1E293B"/>
                </a:solidFill>
                <a:latin typeface="Arial"/>
              </a:defRPr>
            </a:pPr>
            <a:r>
              <a:t>• Data Kontainer, Kemasan, &amp; Nilai Pabean</a:t>
            </a:r>
          </a:p>
          <a:p>
            <a:pPr>
              <a:spcAft>
                <a:spcPts val="200"/>
              </a:spcAft>
              <a:defRPr sz="900">
                <a:solidFill>
                  <a:srgbClr val="1E293B"/>
                </a:solidFill>
                <a:latin typeface="Arial"/>
              </a:defRPr>
            </a:pPr>
            <a:r>
              <a:t>• Status Penjaluran (Merah, Kuning, Hijau)</a:t>
            </a:r>
          </a:p>
        </p:txBody>
      </p:sp>
      <p:sp>
        <p:nvSpPr>
          <p:cNvPr id="9" name="Rectangle 8"/>
          <p:cNvSpPr/>
          <p:nvPr/>
        </p:nvSpPr>
        <p:spPr>
          <a:xfrm>
            <a:off x="4389120" y="1737360"/>
            <a:ext cx="3383280" cy="1874519"/>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847088"/>
            <a:ext cx="3017520" cy="502920"/>
          </a:xfrm>
          <a:prstGeom prst="rect">
            <a:avLst/>
          </a:prstGeom>
          <a:noFill/>
        </p:spPr>
        <p:txBody>
          <a:bodyPr wrap="square" lIns="0" rIns="0" tIns="0" bIns="0">
            <a:spAutoFit/>
          </a:bodyPr>
          <a:lstStyle/>
          <a:p>
            <a:pPr>
              <a:defRPr sz="1100" b="1">
                <a:solidFill>
                  <a:srgbClr val="0F2042"/>
                </a:solidFill>
                <a:latin typeface="Arial"/>
              </a:defRPr>
            </a:pPr>
            <a:r>
              <a:t>2. EKSPOR</a:t>
            </a:r>
          </a:p>
          <a:p>
            <a:pPr>
              <a:defRPr sz="900" b="1">
                <a:solidFill>
                  <a:srgbClr val="0077C8"/>
                </a:solidFill>
                <a:latin typeface="Arial"/>
              </a:defRPr>
            </a:pPr>
            <a:r>
              <a:t>PEB BC 3.0 &amp; Pengawasan Fisik</a:t>
            </a:r>
          </a:p>
        </p:txBody>
      </p:sp>
      <p:sp>
        <p:nvSpPr>
          <p:cNvPr id="11" name="TextBox 10"/>
          <p:cNvSpPr txBox="1"/>
          <p:nvPr/>
        </p:nvSpPr>
        <p:spPr>
          <a:xfrm>
            <a:off x="4572000" y="2377440"/>
            <a:ext cx="3017520" cy="1143000"/>
          </a:xfrm>
          <a:prstGeom prst="rect">
            <a:avLst/>
          </a:prstGeom>
          <a:noFill/>
        </p:spPr>
        <p:txBody>
          <a:bodyPr wrap="square" lIns="0" rIns="0" tIns="0" bIns="0">
            <a:spAutoFit/>
          </a:bodyPr>
          <a:lstStyle/>
          <a:p>
            <a:pPr>
              <a:spcAft>
                <a:spcPts val="200"/>
              </a:spcAft>
              <a:defRPr sz="900">
                <a:solidFill>
                  <a:srgbClr val="1E293B"/>
                </a:solidFill>
                <a:latin typeface="Arial"/>
              </a:defRPr>
            </a:pPr>
            <a:r>
              <a:t>• Dokumen Ekspor PEB BC 3.0</a:t>
            </a:r>
          </a:p>
          <a:p>
            <a:pPr>
              <a:spcAft>
                <a:spcPts val="200"/>
              </a:spcAft>
              <a:defRPr sz="900">
                <a:solidFill>
                  <a:srgbClr val="1E293B"/>
                </a:solidFill>
                <a:latin typeface="Arial"/>
              </a:defRPr>
            </a:pPr>
            <a:r>
              <a:t>• Laporan Pemeriksaan Surveyor (LPS)</a:t>
            </a:r>
          </a:p>
          <a:p>
            <a:pPr>
              <a:spcAft>
                <a:spcPts val="200"/>
              </a:spcAft>
              <a:defRPr sz="900">
                <a:solidFill>
                  <a:srgbClr val="1E293B"/>
                </a:solidFill>
                <a:latin typeface="Arial"/>
              </a:defRPr>
            </a:pPr>
            <a:r>
              <a:t>• Data Devisa Hasil Ekspor (DHE)</a:t>
            </a:r>
          </a:p>
          <a:p>
            <a:pPr>
              <a:spcAft>
                <a:spcPts val="200"/>
              </a:spcAft>
              <a:defRPr sz="900">
                <a:solidFill>
                  <a:srgbClr val="1E293B"/>
                </a:solidFill>
                <a:latin typeface="Arial"/>
              </a:defRPr>
            </a:pPr>
            <a:r>
              <a:t>• Monitoring Muat &amp; Keberangkatan Sarana</a:t>
            </a:r>
          </a:p>
        </p:txBody>
      </p:sp>
      <p:sp>
        <p:nvSpPr>
          <p:cNvPr id="12" name="Rectangle 11"/>
          <p:cNvSpPr/>
          <p:nvPr/>
        </p:nvSpPr>
        <p:spPr>
          <a:xfrm>
            <a:off x="8046720" y="1737360"/>
            <a:ext cx="3383280" cy="1874519"/>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847088"/>
            <a:ext cx="3017520" cy="502920"/>
          </a:xfrm>
          <a:prstGeom prst="rect">
            <a:avLst/>
          </a:prstGeom>
          <a:noFill/>
        </p:spPr>
        <p:txBody>
          <a:bodyPr wrap="square" lIns="0" rIns="0" tIns="0" bIns="0">
            <a:spAutoFit/>
          </a:bodyPr>
          <a:lstStyle/>
          <a:p>
            <a:pPr>
              <a:defRPr sz="1100" b="1">
                <a:solidFill>
                  <a:srgbClr val="0F2042"/>
                </a:solidFill>
                <a:latin typeface="Arial"/>
              </a:defRPr>
            </a:pPr>
            <a:r>
              <a:t>3. CUKAI</a:t>
            </a:r>
          </a:p>
          <a:p>
            <a:pPr>
              <a:defRPr sz="900" b="1">
                <a:solidFill>
                  <a:srgbClr val="0077C8"/>
                </a:solidFill>
                <a:latin typeface="Arial"/>
              </a:defRPr>
            </a:pPr>
            <a:r>
              <a:t>Barang Kena Cukai (BKC) &amp; Pita Cukai</a:t>
            </a:r>
          </a:p>
        </p:txBody>
      </p:sp>
      <p:sp>
        <p:nvSpPr>
          <p:cNvPr id="14" name="TextBox 13"/>
          <p:cNvSpPr txBox="1"/>
          <p:nvPr/>
        </p:nvSpPr>
        <p:spPr>
          <a:xfrm>
            <a:off x="8229600" y="2377440"/>
            <a:ext cx="3017520" cy="1143000"/>
          </a:xfrm>
          <a:prstGeom prst="rect">
            <a:avLst/>
          </a:prstGeom>
          <a:noFill/>
        </p:spPr>
        <p:txBody>
          <a:bodyPr wrap="square" lIns="0" rIns="0" tIns="0" bIns="0">
            <a:spAutoFit/>
          </a:bodyPr>
          <a:lstStyle/>
          <a:p>
            <a:pPr>
              <a:spcAft>
                <a:spcPts val="200"/>
              </a:spcAft>
              <a:defRPr sz="900">
                <a:solidFill>
                  <a:srgbClr val="1E293B"/>
                </a:solidFill>
                <a:latin typeface="Arial"/>
              </a:defRPr>
            </a:pPr>
            <a:r>
              <a:t>• Dokumen Pemesanan Pita Cukai (CK-1)</a:t>
            </a:r>
          </a:p>
          <a:p>
            <a:pPr>
              <a:spcAft>
                <a:spcPts val="200"/>
              </a:spcAft>
              <a:defRPr sz="900">
                <a:solidFill>
                  <a:srgbClr val="1E293B"/>
                </a:solidFill>
                <a:latin typeface="Arial"/>
              </a:defRPr>
            </a:pPr>
            <a:r>
              <a:t>• Pelunasan Cukai Hasil Tembakau (HT)</a:t>
            </a:r>
          </a:p>
          <a:p>
            <a:pPr>
              <a:spcAft>
                <a:spcPts val="200"/>
              </a:spcAft>
              <a:defRPr sz="900">
                <a:solidFill>
                  <a:srgbClr val="1E293B"/>
                </a:solidFill>
                <a:latin typeface="Arial"/>
              </a:defRPr>
            </a:pPr>
            <a:r>
              <a:t>• Monitoring Pabrik MMEA &amp; Etil Alkohol</a:t>
            </a:r>
          </a:p>
          <a:p>
            <a:pPr>
              <a:spcAft>
                <a:spcPts val="200"/>
              </a:spcAft>
              <a:defRPr sz="900">
                <a:solidFill>
                  <a:srgbClr val="1E293B"/>
                </a:solidFill>
                <a:latin typeface="Arial"/>
              </a:defRPr>
            </a:pPr>
            <a:r>
              <a:t>• Produksi, Tarif, &amp; Pelunasan Cukai</a:t>
            </a:r>
          </a:p>
        </p:txBody>
      </p:sp>
      <p:sp>
        <p:nvSpPr>
          <p:cNvPr id="15" name="Rectangle 14"/>
          <p:cNvSpPr/>
          <p:nvPr/>
        </p:nvSpPr>
        <p:spPr>
          <a:xfrm>
            <a:off x="731520" y="3794760"/>
            <a:ext cx="3383280" cy="1874519"/>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904488"/>
            <a:ext cx="3017520" cy="502920"/>
          </a:xfrm>
          <a:prstGeom prst="rect">
            <a:avLst/>
          </a:prstGeom>
          <a:noFill/>
        </p:spPr>
        <p:txBody>
          <a:bodyPr wrap="square" lIns="0" rIns="0" tIns="0" bIns="0">
            <a:spAutoFit/>
          </a:bodyPr>
          <a:lstStyle/>
          <a:p>
            <a:pPr>
              <a:defRPr sz="1100" b="1">
                <a:solidFill>
                  <a:srgbClr val="0F2042"/>
                </a:solidFill>
                <a:latin typeface="Arial"/>
              </a:defRPr>
            </a:pPr>
            <a:r>
              <a:t>4. FASILITAS</a:t>
            </a:r>
          </a:p>
          <a:p>
            <a:pPr>
              <a:defRPr sz="900" b="1">
                <a:solidFill>
                  <a:srgbClr val="0077C8"/>
                </a:solidFill>
                <a:latin typeface="Arial"/>
              </a:defRPr>
            </a:pPr>
            <a:r>
              <a:t>Tempat Penimbunan Berikat &amp; KITE</a:t>
            </a:r>
          </a:p>
        </p:txBody>
      </p:sp>
      <p:sp>
        <p:nvSpPr>
          <p:cNvPr id="17" name="TextBox 16"/>
          <p:cNvSpPr txBox="1"/>
          <p:nvPr/>
        </p:nvSpPr>
        <p:spPr>
          <a:xfrm>
            <a:off x="914400" y="4434840"/>
            <a:ext cx="3017520" cy="1143000"/>
          </a:xfrm>
          <a:prstGeom prst="rect">
            <a:avLst/>
          </a:prstGeom>
          <a:noFill/>
        </p:spPr>
        <p:txBody>
          <a:bodyPr wrap="square" lIns="0" rIns="0" tIns="0" bIns="0">
            <a:spAutoFit/>
          </a:bodyPr>
          <a:lstStyle/>
          <a:p>
            <a:pPr>
              <a:spcAft>
                <a:spcPts val="200"/>
              </a:spcAft>
              <a:defRPr sz="900">
                <a:solidFill>
                  <a:srgbClr val="1E293B"/>
                </a:solidFill>
                <a:latin typeface="Arial"/>
              </a:defRPr>
            </a:pPr>
            <a:r>
              <a:t>• Kawasan Berikat (KB) &amp; Gudang Berikat</a:t>
            </a:r>
          </a:p>
          <a:p>
            <a:pPr>
              <a:spcAft>
                <a:spcPts val="200"/>
              </a:spcAft>
              <a:defRPr sz="900">
                <a:solidFill>
                  <a:srgbClr val="1E293B"/>
                </a:solidFill>
                <a:latin typeface="Arial"/>
              </a:defRPr>
            </a:pPr>
            <a:r>
              <a:t>• Kemudahan Impor Tujuan Ekspor (KITE)</a:t>
            </a:r>
          </a:p>
          <a:p>
            <a:pPr>
              <a:spcAft>
                <a:spcPts val="200"/>
              </a:spcAft>
              <a:defRPr sz="900">
                <a:solidFill>
                  <a:srgbClr val="1E293B"/>
                </a:solidFill>
                <a:latin typeface="Arial"/>
              </a:defRPr>
            </a:pPr>
            <a:r>
              <a:t>• Fasilitas Pembebasan / Keringanan Bea</a:t>
            </a:r>
          </a:p>
          <a:p>
            <a:pPr>
              <a:spcAft>
                <a:spcPts val="200"/>
              </a:spcAft>
              <a:defRPr sz="900">
                <a:solidFill>
                  <a:srgbClr val="1E293B"/>
                </a:solidFill>
                <a:latin typeface="Arial"/>
              </a:defRPr>
            </a:pPr>
            <a:r>
              <a:t>• Monitoring Mutasi Bahan Baku &amp; Sisa</a:t>
            </a:r>
          </a:p>
        </p:txBody>
      </p:sp>
      <p:sp>
        <p:nvSpPr>
          <p:cNvPr id="18" name="Rectangle 17"/>
          <p:cNvSpPr/>
          <p:nvPr/>
        </p:nvSpPr>
        <p:spPr>
          <a:xfrm>
            <a:off x="4389120" y="3794760"/>
            <a:ext cx="3383280" cy="1874519"/>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904488"/>
            <a:ext cx="3017520" cy="502920"/>
          </a:xfrm>
          <a:prstGeom prst="rect">
            <a:avLst/>
          </a:prstGeom>
          <a:noFill/>
        </p:spPr>
        <p:txBody>
          <a:bodyPr wrap="square" lIns="0" rIns="0" tIns="0" bIns="0">
            <a:spAutoFit/>
          </a:bodyPr>
          <a:lstStyle/>
          <a:p>
            <a:pPr>
              <a:defRPr sz="1100" b="1">
                <a:solidFill>
                  <a:srgbClr val="0F2042"/>
                </a:solidFill>
                <a:latin typeface="Arial"/>
              </a:defRPr>
            </a:pPr>
            <a:r>
              <a:t>5. MANIFEST</a:t>
            </a:r>
          </a:p>
          <a:p>
            <a:pPr>
              <a:defRPr sz="900" b="1">
                <a:solidFill>
                  <a:srgbClr val="0077C8"/>
                </a:solidFill>
                <a:latin typeface="Arial"/>
              </a:defRPr>
            </a:pPr>
            <a:r>
              <a:t>Pengawasan Sarana Pengangkut (BC 1.1)</a:t>
            </a:r>
          </a:p>
        </p:txBody>
      </p:sp>
      <p:sp>
        <p:nvSpPr>
          <p:cNvPr id="20" name="TextBox 19"/>
          <p:cNvSpPr txBox="1"/>
          <p:nvPr/>
        </p:nvSpPr>
        <p:spPr>
          <a:xfrm>
            <a:off x="4572000" y="4434840"/>
            <a:ext cx="3017520" cy="1143000"/>
          </a:xfrm>
          <a:prstGeom prst="rect">
            <a:avLst/>
          </a:prstGeom>
          <a:noFill/>
        </p:spPr>
        <p:txBody>
          <a:bodyPr wrap="square" lIns="0" rIns="0" tIns="0" bIns="0">
            <a:spAutoFit/>
          </a:bodyPr>
          <a:lstStyle/>
          <a:p>
            <a:pPr>
              <a:spcAft>
                <a:spcPts val="200"/>
              </a:spcAft>
              <a:defRPr sz="900">
                <a:solidFill>
                  <a:srgbClr val="1E293B"/>
                </a:solidFill>
                <a:latin typeface="Arial"/>
              </a:defRPr>
            </a:pPr>
            <a:r>
              <a:t>• Manifest Kedatangan (Inward Manifest BC 1.1)</a:t>
            </a:r>
          </a:p>
          <a:p>
            <a:pPr>
              <a:spcAft>
                <a:spcPts val="200"/>
              </a:spcAft>
              <a:defRPr sz="900">
                <a:solidFill>
                  <a:srgbClr val="1E293B"/>
                </a:solidFill>
                <a:latin typeface="Arial"/>
              </a:defRPr>
            </a:pPr>
            <a:r>
              <a:t>• Manifest Keberangkatan (Outward Manifest)</a:t>
            </a:r>
          </a:p>
          <a:p>
            <a:pPr>
              <a:spcAft>
                <a:spcPts val="200"/>
              </a:spcAft>
              <a:defRPr sz="900">
                <a:solidFill>
                  <a:srgbClr val="1E293B"/>
                </a:solidFill>
                <a:latin typeface="Arial"/>
              </a:defRPr>
            </a:pPr>
            <a:r>
              <a:t>• Data Sarana Pengangkut (Vessel / Flight)</a:t>
            </a:r>
          </a:p>
          <a:p>
            <a:pPr>
              <a:spcAft>
                <a:spcPts val="200"/>
              </a:spcAft>
              <a:defRPr sz="900">
                <a:solidFill>
                  <a:srgbClr val="1E293B"/>
                </a:solidFill>
                <a:latin typeface="Arial"/>
              </a:defRPr>
            </a:pPr>
            <a:r>
              <a:t>• Bill of Lading (B/L) &amp; Air Waybill (AWB)</a:t>
            </a:r>
          </a:p>
        </p:txBody>
      </p:sp>
      <p:sp>
        <p:nvSpPr>
          <p:cNvPr id="21" name="Rectangle 20"/>
          <p:cNvSpPr/>
          <p:nvPr/>
        </p:nvSpPr>
        <p:spPr>
          <a:xfrm>
            <a:off x="8046720" y="3794760"/>
            <a:ext cx="3383280" cy="1874519"/>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904488"/>
            <a:ext cx="3017520" cy="502920"/>
          </a:xfrm>
          <a:prstGeom prst="rect">
            <a:avLst/>
          </a:prstGeom>
          <a:noFill/>
        </p:spPr>
        <p:txBody>
          <a:bodyPr wrap="square" lIns="0" rIns="0" tIns="0" bIns="0">
            <a:spAutoFit/>
          </a:bodyPr>
          <a:lstStyle/>
          <a:p>
            <a:pPr>
              <a:defRPr sz="1100" b="1">
                <a:solidFill>
                  <a:srgbClr val="0F2042"/>
                </a:solidFill>
                <a:latin typeface="Arial"/>
              </a:defRPr>
            </a:pPr>
            <a:r>
              <a:t>6. PERBENDAHARAAN</a:t>
            </a:r>
          </a:p>
          <a:p>
            <a:pPr>
              <a:defRPr sz="900" b="1">
                <a:solidFill>
                  <a:srgbClr val="0077C8"/>
                </a:solidFill>
                <a:latin typeface="Arial"/>
              </a:defRPr>
            </a:pPr>
            <a:r>
              <a:t>Penerimaan Negara &amp; Piutang Pabean</a:t>
            </a:r>
          </a:p>
        </p:txBody>
      </p:sp>
      <p:sp>
        <p:nvSpPr>
          <p:cNvPr id="23" name="TextBox 22"/>
          <p:cNvSpPr txBox="1"/>
          <p:nvPr/>
        </p:nvSpPr>
        <p:spPr>
          <a:xfrm>
            <a:off x="8229600" y="4434840"/>
            <a:ext cx="3017520" cy="1143000"/>
          </a:xfrm>
          <a:prstGeom prst="rect">
            <a:avLst/>
          </a:prstGeom>
          <a:noFill/>
        </p:spPr>
        <p:txBody>
          <a:bodyPr wrap="square" lIns="0" rIns="0" tIns="0" bIns="0">
            <a:spAutoFit/>
          </a:bodyPr>
          <a:lstStyle/>
          <a:p>
            <a:pPr>
              <a:spcAft>
                <a:spcPts val="200"/>
              </a:spcAft>
              <a:defRPr sz="900">
                <a:solidFill>
                  <a:srgbClr val="1E293B"/>
                </a:solidFill>
                <a:latin typeface="Arial"/>
              </a:defRPr>
            </a:pPr>
            <a:r>
              <a:t>• Billing Penerimaan Bea Masuk, Keluar, Cukai</a:t>
            </a:r>
          </a:p>
          <a:p>
            <a:pPr>
              <a:spcAft>
                <a:spcPts val="200"/>
              </a:spcAft>
              <a:defRPr sz="900">
                <a:solidFill>
                  <a:srgbClr val="1E293B"/>
                </a:solidFill>
                <a:latin typeface="Arial"/>
              </a:defRPr>
            </a:pPr>
            <a:r>
              <a:t>• Piutang, Tagihan Surat Penetapan (SPTNP)</a:t>
            </a:r>
          </a:p>
          <a:p>
            <a:pPr>
              <a:spcAft>
                <a:spcPts val="200"/>
              </a:spcAft>
              <a:defRPr sz="900">
                <a:solidFill>
                  <a:srgbClr val="1E293B"/>
                </a:solidFill>
                <a:latin typeface="Arial"/>
              </a:defRPr>
            </a:pPr>
            <a:r>
              <a:t>• Pengelolaan Jaminan Kepabeanan &amp; Cukai</a:t>
            </a:r>
          </a:p>
          <a:p>
            <a:pPr>
              <a:spcAft>
                <a:spcPts val="200"/>
              </a:spcAft>
              <a:defRPr sz="900">
                <a:solidFill>
                  <a:srgbClr val="1E293B"/>
                </a:solidFill>
                <a:latin typeface="Arial"/>
              </a:defRPr>
            </a:pPr>
            <a:r>
              <a:t>• Restitusi, Pengembalian, &amp; Keberatan</a:t>
            </a:r>
          </a:p>
        </p:txBody>
      </p:sp>
      <p:sp>
        <p:nvSpPr>
          <p:cNvPr id="24" name="Rectangle 23"/>
          <p:cNvSpPr/>
          <p:nvPr/>
        </p:nvSpPr>
        <p:spPr>
          <a:xfrm>
            <a:off x="731520" y="5897880"/>
            <a:ext cx="10728655" cy="41148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943600"/>
            <a:ext cx="10362895" cy="320040"/>
          </a:xfrm>
          <a:prstGeom prst="rect">
            <a:avLst/>
          </a:prstGeom>
          <a:noFill/>
        </p:spPr>
        <p:txBody>
          <a:bodyPr wrap="square">
            <a:spAutoFit/>
          </a:bodyPr>
          <a:lstStyle/>
          <a:p>
            <a:pPr>
              <a:defRPr sz="950">
                <a:solidFill>
                  <a:srgbClr val="475569"/>
                </a:solidFill>
                <a:latin typeface="Arial"/>
              </a:defRPr>
            </a:pPr>
            <a:r>
              <a:t>Seluruh 6 domain terpetakan secara otomatis dengan relasi Foreign Key teruji di CEISA DWH, menjamin keakuratan sintaks SQL.</a:t>
            </a:r>
          </a:p>
        </p:txBody>
      </p:sp>
      <p:sp>
        <p:nvSpPr>
          <p:cNvPr id="26" name="TextBox 25"/>
          <p:cNvSpPr txBox="1"/>
          <p:nvPr/>
        </p:nvSpPr>
        <p:spPr>
          <a:xfrm>
            <a:off x="731520" y="6446520"/>
            <a:ext cx="5486400" cy="228600"/>
          </a:xfrm>
          <a:prstGeom prst="rect">
            <a:avLst/>
          </a:prstGeom>
          <a:noFill/>
        </p:spPr>
        <p:txBody>
          <a:bodyPr wrap="none" lIns="0" rIns="0" tIns="0" bIns="0">
            <a:spAutoFit/>
          </a:bodyPr>
          <a:lstStyle/>
          <a:p>
            <a:pPr>
              <a:defRPr sz="850">
                <a:solidFill>
                  <a:srgbClr val="475569"/>
                </a:solidFill>
                <a:latin typeface="Arial"/>
              </a:defRPr>
            </a:pPr>
            <a:r>
              <a:t>DataRequestStudio | Transformasi Tata Kelola Data CEISA Data Warehouse</a:t>
            </a:r>
          </a:p>
        </p:txBody>
      </p:sp>
      <p:sp>
        <p:nvSpPr>
          <p:cNvPr id="27" name="TextBox 26"/>
          <p:cNvSpPr txBox="1"/>
          <p:nvPr/>
        </p:nvSpPr>
        <p:spPr>
          <a:xfrm>
            <a:off x="4572000" y="6446520"/>
            <a:ext cx="3047695" cy="228600"/>
          </a:xfrm>
          <a:prstGeom prst="rect">
            <a:avLst/>
          </a:prstGeom>
          <a:noFill/>
        </p:spPr>
        <p:txBody>
          <a:bodyPr wrap="none" lIns="0" rIns="0" tIns="0" bIns="0">
            <a:spAutoFit/>
          </a:bodyPr>
          <a:lstStyle/>
          <a:p>
            <a:pPr algn="ctr">
              <a:defRPr sz="850">
                <a:solidFill>
                  <a:srgbClr val="475569"/>
                </a:solidFill>
                <a:latin typeface="Arial"/>
              </a:defRPr>
            </a:pPr>
            <a:r>
              <a:t>Klasifikasi: Terbatas / Khusus DJBC &amp; Kemenkeu</a:t>
            </a:r>
          </a:p>
        </p:txBody>
      </p:sp>
      <p:sp>
        <p:nvSpPr>
          <p:cNvPr id="28" name="TextBox 27"/>
          <p:cNvSpPr txBox="1"/>
          <p:nvPr/>
        </p:nvSpPr>
        <p:spPr>
          <a:xfrm>
            <a:off x="9631375" y="6446520"/>
            <a:ext cx="1828800" cy="228600"/>
          </a:xfrm>
          <a:prstGeom prst="rect">
            <a:avLst/>
          </a:prstGeom>
          <a:noFill/>
        </p:spPr>
        <p:txBody>
          <a:bodyPr wrap="none" lIns="0" rIns="0" tIns="0" bIns="0">
            <a:spAutoFit/>
          </a:bodyPr>
          <a:lstStyle/>
          <a:p>
            <a:pPr algn="r">
              <a:defRPr sz="850">
                <a:solidFill>
                  <a:srgbClr val="475569"/>
                </a:solidFill>
                <a:latin typeface="Arial"/>
              </a:defRPr>
            </a:pPr>
            <a:r>
              <a:t>Slide 4 dari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lIns="0" rIns="0" tIns="0" bIns="0">
            <a:spAutoFit/>
          </a:bodyPr>
          <a:lstStyle/>
          <a:p>
            <a:pPr>
              <a:defRPr sz="950" b="1">
                <a:solidFill>
                  <a:srgbClr val="0077C8"/>
                </a:solidFill>
                <a:latin typeface="Arial"/>
              </a:defRPr>
            </a:pPr>
            <a:r>
              <a:t>WHY — URGENSI &amp; TRANSFORMASI OPERASIONAL</a:t>
            </a:r>
          </a:p>
        </p:txBody>
      </p:sp>
      <p:sp>
        <p:nvSpPr>
          <p:cNvPr id="3" name="TextBox 2"/>
          <p:cNvSpPr txBox="1"/>
          <p:nvPr/>
        </p:nvSpPr>
        <p:spPr>
          <a:xfrm>
            <a:off x="731520" y="685800"/>
            <a:ext cx="10728655" cy="548640"/>
          </a:xfrm>
          <a:prstGeom prst="rect">
            <a:avLst/>
          </a:prstGeom>
          <a:noFill/>
        </p:spPr>
        <p:txBody>
          <a:bodyPr wrap="square" lIns="0" rIns="0" tIns="0" bIns="0">
            <a:spAutoFit/>
          </a:bodyPr>
          <a:lstStyle/>
          <a:p>
            <a:pPr>
              <a:defRPr sz="1900" b="1">
                <a:solidFill>
                  <a:srgbClr val="0F2042"/>
                </a:solidFill>
                <a:latin typeface="Arial"/>
              </a:defRPr>
            </a:pPr>
            <a:r>
              <a:t>Modernisasi pemenuhan data mengatasi tiga hambatan kritis: bottleneck birokrasi, risiko kebocoran data pribadi, dan fragmentasi kueri.</a:t>
            </a:r>
          </a:p>
        </p:txBody>
      </p:sp>
      <p:sp>
        <p:nvSpPr>
          <p:cNvPr id="4" name="TextBox 3"/>
          <p:cNvSpPr txBox="1"/>
          <p:nvPr/>
        </p:nvSpPr>
        <p:spPr>
          <a:xfrm>
            <a:off x="731520" y="1234440"/>
            <a:ext cx="10728655" cy="320040"/>
          </a:xfrm>
          <a:prstGeom prst="rect">
            <a:avLst/>
          </a:prstGeom>
          <a:noFill/>
        </p:spPr>
        <p:txBody>
          <a:bodyPr wrap="square" lIns="0" rIns="0" tIns="0" bIns="0">
            <a:spAutoFit/>
          </a:bodyPr>
          <a:lstStyle/>
          <a:p>
            <a:pPr>
              <a:defRPr sz="1100">
                <a:solidFill>
                  <a:srgbClr val="475569"/>
                </a:solidFill>
                <a:latin typeface="Arial"/>
              </a:defRPr>
            </a:pPr>
            <a:r>
              <a:t>Perbandingan matriks operasional antara proses konvensional dan ekosistem DataRequestStudio.</a:t>
            </a:r>
          </a:p>
        </p:txBody>
      </p:sp>
      <p:sp>
        <p:nvSpPr>
          <p:cNvPr id="5" name="Rectangle 4"/>
          <p:cNvSpPr/>
          <p:nvPr/>
        </p:nvSpPr>
        <p:spPr>
          <a:xfrm>
            <a:off x="731520" y="157276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2377440" cy="123444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2194560" cy="868680"/>
          </a:xfrm>
          <a:prstGeom prst="rect">
            <a:avLst/>
          </a:prstGeom>
          <a:noFill/>
        </p:spPr>
        <p:txBody>
          <a:bodyPr wrap="square" lIns="0" rIns="0" tIns="0" bIns="0">
            <a:spAutoFit/>
          </a:bodyPr>
          <a:lstStyle/>
          <a:p>
            <a:pPr>
              <a:defRPr sz="1000" b="1">
                <a:solidFill>
                  <a:srgbClr val="FFFFFF"/>
                </a:solidFill>
                <a:latin typeface="Arial"/>
              </a:defRPr>
            </a:pPr>
            <a:r>
              <a:t>DIMENSI 1: KECEPATAN &amp; SLA PEMENUHAN</a:t>
            </a:r>
          </a:p>
        </p:txBody>
      </p:sp>
      <p:sp>
        <p:nvSpPr>
          <p:cNvPr id="8" name="Rectangle 7"/>
          <p:cNvSpPr/>
          <p:nvPr/>
        </p:nvSpPr>
        <p:spPr>
          <a:xfrm>
            <a:off x="3246120" y="1737360"/>
            <a:ext cx="3931920" cy="1234440"/>
          </a:xfrm>
          <a:prstGeom prst="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828800"/>
            <a:ext cx="3657600" cy="1051560"/>
          </a:xfrm>
          <a:prstGeom prst="rect">
            <a:avLst/>
          </a:prstGeom>
          <a:noFill/>
        </p:spPr>
        <p:txBody>
          <a:bodyPr wrap="square" lIns="0" rIns="0" tIns="0" bIns="0">
            <a:spAutoFit/>
          </a:bodyPr>
          <a:lstStyle/>
          <a:p>
            <a:pPr>
              <a:defRPr sz="950" b="1">
                <a:solidFill>
                  <a:srgbClr val="B91C1C"/>
                </a:solidFill>
                <a:latin typeface="Arial"/>
              </a:defRPr>
            </a:pPr>
            <a:r>
              <a:t>Sebelumnya: Proses Manual Berbelit</a:t>
            </a:r>
          </a:p>
          <a:p>
            <a:pPr>
              <a:spcBef>
                <a:spcPts val="200"/>
              </a:spcBef>
              <a:defRPr sz="850">
                <a:solidFill>
                  <a:srgbClr val="1E293B"/>
                </a:solidFill>
                <a:latin typeface="Arial"/>
              </a:defRPr>
            </a:pPr>
            <a:r>
              <a:t>• Pemohon menyusun Nota Dinas fisik dan menunggu paraf berjenjang antar eselon.</a:t>
            </a:r>
            <a:br/>
            <a:r>
              <a:t>• Waktu pemenuhan data rata-rata memakan 14 s.d. 30 hari kerja.</a:t>
            </a:r>
            <a:br/>
            <a:r>
              <a:t>• Beban antrean tinggi di tim pengelola basis data.</a:t>
            </a:r>
          </a:p>
        </p:txBody>
      </p:sp>
      <p:sp>
        <p:nvSpPr>
          <p:cNvPr id="10" name="Rectangle 9"/>
          <p:cNvSpPr/>
          <p:nvPr/>
        </p:nvSpPr>
        <p:spPr>
          <a:xfrm>
            <a:off x="7315200" y="1737360"/>
            <a:ext cx="4144975" cy="1234440"/>
          </a:xfrm>
          <a:prstGeom prst="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1828800"/>
            <a:ext cx="3840480" cy="1051560"/>
          </a:xfrm>
          <a:prstGeom prst="rect">
            <a:avLst/>
          </a:prstGeom>
          <a:noFill/>
        </p:spPr>
        <p:txBody>
          <a:bodyPr wrap="square" lIns="0" rIns="0" tIns="0" bIns="0">
            <a:spAutoFit/>
          </a:bodyPr>
          <a:lstStyle/>
          <a:p>
            <a:pPr>
              <a:defRPr sz="950" b="1">
                <a:solidFill>
                  <a:srgbClr val="15803D"/>
                </a:solidFill>
                <a:latin typeface="Arial"/>
              </a:defRPr>
            </a:pPr>
            <a:r>
              <a:t>Dengan DataRequestStudio: Terotomasi &amp; Mandiri</a:t>
            </a:r>
          </a:p>
          <a:p>
            <a:pPr>
              <a:spcBef>
                <a:spcPts val="200"/>
              </a:spcBef>
              <a:defRPr sz="850">
                <a:solidFill>
                  <a:srgbClr val="1E293B"/>
                </a:solidFill>
                <a:latin typeface="Arial"/>
              </a:defRPr>
            </a:pPr>
            <a:r>
              <a:t>• Pemohon menyusun dan memvalidasi kueri secara swalayan dalam hitungan menit.</a:t>
            </a:r>
            <a:br/>
            <a:r>
              <a:t>• Lead time terpangkas drastis menjadi &lt;24 s.d. 48 jam kerja.</a:t>
            </a:r>
            <a:br/>
            <a:r>
              <a:t>• Verifikasi digital instan mempercepat siklus persetujuan.</a:t>
            </a:r>
          </a:p>
        </p:txBody>
      </p:sp>
      <p:sp>
        <p:nvSpPr>
          <p:cNvPr id="12" name="Rectangle 11"/>
          <p:cNvSpPr/>
          <p:nvPr/>
        </p:nvSpPr>
        <p:spPr>
          <a:xfrm>
            <a:off x="731520" y="3108960"/>
            <a:ext cx="2377440" cy="123444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291840"/>
            <a:ext cx="2194560" cy="868680"/>
          </a:xfrm>
          <a:prstGeom prst="rect">
            <a:avLst/>
          </a:prstGeom>
          <a:noFill/>
        </p:spPr>
        <p:txBody>
          <a:bodyPr wrap="square" lIns="0" rIns="0" tIns="0" bIns="0">
            <a:spAutoFit/>
          </a:bodyPr>
          <a:lstStyle/>
          <a:p>
            <a:pPr>
              <a:defRPr sz="1000" b="1">
                <a:solidFill>
                  <a:srgbClr val="FFFFFF"/>
                </a:solidFill>
                <a:latin typeface="Arial"/>
              </a:defRPr>
            </a:pPr>
            <a:r>
              <a:t>DIMENSI 2: KEPATUHAN UU PDP &amp; PRIVASI</a:t>
            </a:r>
          </a:p>
        </p:txBody>
      </p:sp>
      <p:sp>
        <p:nvSpPr>
          <p:cNvPr id="14" name="Rectangle 13"/>
          <p:cNvSpPr/>
          <p:nvPr/>
        </p:nvSpPr>
        <p:spPr>
          <a:xfrm>
            <a:off x="3246120" y="3108960"/>
            <a:ext cx="3931920" cy="1234440"/>
          </a:xfrm>
          <a:prstGeom prst="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3200400"/>
            <a:ext cx="3657600" cy="1051560"/>
          </a:xfrm>
          <a:prstGeom prst="rect">
            <a:avLst/>
          </a:prstGeom>
          <a:noFill/>
        </p:spPr>
        <p:txBody>
          <a:bodyPr wrap="square" lIns="0" rIns="0" tIns="0" bIns="0">
            <a:spAutoFit/>
          </a:bodyPr>
          <a:lstStyle/>
          <a:p>
            <a:pPr>
              <a:defRPr sz="950" b="1">
                <a:solidFill>
                  <a:srgbClr val="B91C1C"/>
                </a:solidFill>
                <a:latin typeface="Arial"/>
              </a:defRPr>
            </a:pPr>
            <a:r>
              <a:t>Sebelumnya: Risiko Paparan PII Tinggi</a:t>
            </a:r>
          </a:p>
          <a:p>
            <a:pPr>
              <a:spcBef>
                <a:spcPts val="200"/>
              </a:spcBef>
              <a:defRPr sz="850">
                <a:solidFill>
                  <a:srgbClr val="1E293B"/>
                </a:solidFill>
                <a:latin typeface="Arial"/>
              </a:defRPr>
            </a:pPr>
            <a:r>
              <a:t>• Data mentah diekstrak tanpa filter perlindungan data pribadi terstandar.</a:t>
            </a:r>
            <a:br/>
            <a:r>
              <a:t>• NIK, NPWP pribadi, dan rekening bank berisiko terekspos ke pihak tidak berwenang.</a:t>
            </a:r>
            <a:br/>
            <a:r>
              <a:t>• Potensi pelanggaran hukum terhadap UU PDP No. 27/2022.</a:t>
            </a:r>
          </a:p>
        </p:txBody>
      </p:sp>
      <p:sp>
        <p:nvSpPr>
          <p:cNvPr id="16" name="Rectangle 15"/>
          <p:cNvSpPr/>
          <p:nvPr/>
        </p:nvSpPr>
        <p:spPr>
          <a:xfrm>
            <a:off x="7315200" y="3108960"/>
            <a:ext cx="4144975" cy="1234440"/>
          </a:xfrm>
          <a:prstGeom prst="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3200400"/>
            <a:ext cx="3840480" cy="1051560"/>
          </a:xfrm>
          <a:prstGeom prst="rect">
            <a:avLst/>
          </a:prstGeom>
          <a:noFill/>
        </p:spPr>
        <p:txBody>
          <a:bodyPr wrap="square" lIns="0" rIns="0" tIns="0" bIns="0">
            <a:spAutoFit/>
          </a:bodyPr>
          <a:lstStyle/>
          <a:p>
            <a:pPr>
              <a:defRPr sz="950" b="1">
                <a:solidFill>
                  <a:srgbClr val="15803D"/>
                </a:solidFill>
                <a:latin typeface="Arial"/>
              </a:defRPr>
            </a:pPr>
            <a:r>
              <a:t>Dengan DataRequestStudio: Dynamic PDP Masking</a:t>
            </a:r>
          </a:p>
          <a:p>
            <a:pPr>
              <a:spcBef>
                <a:spcPts val="200"/>
              </a:spcBef>
              <a:defRPr sz="850">
                <a:solidFill>
                  <a:srgbClr val="1E293B"/>
                </a:solidFill>
                <a:latin typeface="Arial"/>
              </a:defRPr>
            </a:pPr>
            <a:r>
              <a:t>• Sistem secara otomatis mendeteksi kolom PII dan menerapkan masking ketat.</a:t>
            </a:r>
            <a:br/>
            <a:r>
              <a:t>• Hanya atribut bisnis yang diizinkan yang diekstrak ke dalam dataset.</a:t>
            </a:r>
            <a:br/>
            <a:r>
              <a:t>• Jaminan kepatuhan 100% terhadap regulasi perlindungan data negara.</a:t>
            </a:r>
          </a:p>
        </p:txBody>
      </p:sp>
      <p:sp>
        <p:nvSpPr>
          <p:cNvPr id="18" name="Rectangle 17"/>
          <p:cNvSpPr/>
          <p:nvPr/>
        </p:nvSpPr>
        <p:spPr>
          <a:xfrm>
            <a:off x="731520" y="4480560"/>
            <a:ext cx="2377440" cy="123444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663440"/>
            <a:ext cx="2194560" cy="868680"/>
          </a:xfrm>
          <a:prstGeom prst="rect">
            <a:avLst/>
          </a:prstGeom>
          <a:noFill/>
        </p:spPr>
        <p:txBody>
          <a:bodyPr wrap="square" lIns="0" rIns="0" tIns="0" bIns="0">
            <a:spAutoFit/>
          </a:bodyPr>
          <a:lstStyle/>
          <a:p>
            <a:pPr>
              <a:defRPr sz="1000" b="1">
                <a:solidFill>
                  <a:srgbClr val="FFFFFF"/>
                </a:solidFill>
                <a:latin typeface="Arial"/>
              </a:defRPr>
            </a:pPr>
            <a:r>
              <a:t>DIMENSI 3: AKUNTABILITAS &amp; AUDIT TRAIL</a:t>
            </a:r>
          </a:p>
        </p:txBody>
      </p:sp>
      <p:sp>
        <p:nvSpPr>
          <p:cNvPr id="20" name="Rectangle 19"/>
          <p:cNvSpPr/>
          <p:nvPr/>
        </p:nvSpPr>
        <p:spPr>
          <a:xfrm>
            <a:off x="3246120" y="4480560"/>
            <a:ext cx="3931920" cy="1234440"/>
          </a:xfrm>
          <a:prstGeom prst="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83280" y="4572000"/>
            <a:ext cx="3657600" cy="1051560"/>
          </a:xfrm>
          <a:prstGeom prst="rect">
            <a:avLst/>
          </a:prstGeom>
          <a:noFill/>
        </p:spPr>
        <p:txBody>
          <a:bodyPr wrap="square" lIns="0" rIns="0" tIns="0" bIns="0">
            <a:spAutoFit/>
          </a:bodyPr>
          <a:lstStyle/>
          <a:p>
            <a:pPr>
              <a:defRPr sz="950" b="1">
                <a:solidFill>
                  <a:srgbClr val="B91C1C"/>
                </a:solidFill>
                <a:latin typeface="Arial"/>
              </a:defRPr>
            </a:pPr>
            <a:r>
              <a:t>Sebelumnya: Silo &amp; 'Black Box'</a:t>
            </a:r>
          </a:p>
          <a:p>
            <a:pPr>
              <a:spcBef>
                <a:spcPts val="200"/>
              </a:spcBef>
              <a:defRPr sz="850">
                <a:solidFill>
                  <a:srgbClr val="1E293B"/>
                </a:solidFill>
                <a:latin typeface="Arial"/>
              </a:defRPr>
            </a:pPr>
            <a:r>
              <a:t>• Riwayat permohonan tercecer di email atau arsip nota dinas fisik.</a:t>
            </a:r>
            <a:br/>
            <a:r>
              <a:t>• Sulit melacak siapa yang meminta data, untuk tujuan apa, dan siapa verifikatornya.</a:t>
            </a:r>
            <a:br/>
            <a:r>
              <a:t>• Duplikasi permohonan data yang sama sering terjadi berulang kali.</a:t>
            </a:r>
          </a:p>
        </p:txBody>
      </p:sp>
      <p:sp>
        <p:nvSpPr>
          <p:cNvPr id="22" name="Rectangle 21"/>
          <p:cNvSpPr/>
          <p:nvPr/>
        </p:nvSpPr>
        <p:spPr>
          <a:xfrm>
            <a:off x="7315200" y="4480560"/>
            <a:ext cx="4144975" cy="1234440"/>
          </a:xfrm>
          <a:prstGeom prst="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4572000"/>
            <a:ext cx="3840480" cy="1051560"/>
          </a:xfrm>
          <a:prstGeom prst="rect">
            <a:avLst/>
          </a:prstGeom>
          <a:noFill/>
        </p:spPr>
        <p:txBody>
          <a:bodyPr wrap="square" lIns="0" rIns="0" tIns="0" bIns="0">
            <a:spAutoFit/>
          </a:bodyPr>
          <a:lstStyle/>
          <a:p>
            <a:pPr>
              <a:defRPr sz="950" b="1">
                <a:solidFill>
                  <a:srgbClr val="15803D"/>
                </a:solidFill>
                <a:latin typeface="Arial"/>
              </a:defRPr>
            </a:pPr>
            <a:r>
              <a:t>Dengan DataRequestStudio: 100% Transparan &amp; Reusable</a:t>
            </a:r>
          </a:p>
          <a:p>
            <a:pPr>
              <a:spcBef>
                <a:spcPts val="200"/>
              </a:spcBef>
              <a:defRPr sz="850">
                <a:solidFill>
                  <a:srgbClr val="1E293B"/>
                </a:solidFill>
                <a:latin typeface="Arial"/>
              </a:defRPr>
            </a:pPr>
            <a:r>
              <a:t>• Repositori CMS terpusat mencatat seluruh riwayat, status, dan timestamp.</a:t>
            </a:r>
            <a:br/>
            <a:r>
              <a:t>• Dilengkapi digital signature verifikator dan justifikasi dinas tercatat permanen.</a:t>
            </a:r>
            <a:br/>
            <a:r>
              <a:t>• Kueri terstandarisasi dapat digunakan kembali (reusable assets).</a:t>
            </a:r>
          </a:p>
        </p:txBody>
      </p:sp>
      <p:sp>
        <p:nvSpPr>
          <p:cNvPr id="24" name="Rectangle 23"/>
          <p:cNvSpPr/>
          <p:nvPr/>
        </p:nvSpPr>
        <p:spPr>
          <a:xfrm>
            <a:off x="731520" y="5943600"/>
            <a:ext cx="10728655" cy="365760"/>
          </a:xfrm>
          <a:prstGeom prst="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961888"/>
            <a:ext cx="10362895" cy="274320"/>
          </a:xfrm>
          <a:prstGeom prst="rect">
            <a:avLst/>
          </a:prstGeom>
          <a:noFill/>
        </p:spPr>
        <p:txBody>
          <a:bodyPr wrap="square">
            <a:spAutoFit/>
          </a:bodyPr>
          <a:lstStyle/>
          <a:p>
            <a:pPr>
              <a:defRPr sz="950" b="1">
                <a:solidFill>
                  <a:srgbClr val="0077C8"/>
                </a:solidFill>
                <a:latin typeface="Arial"/>
              </a:defRPr>
            </a:pPr>
            <a:r>
              <a:t>Transformasi Paradigma: Dari 'Menunggu Tim IT Mengekstrak Data' menjadi 'Tata Kelola Mandiri yang Diawasi Sistem'.</a:t>
            </a:r>
          </a:p>
        </p:txBody>
      </p:sp>
      <p:sp>
        <p:nvSpPr>
          <p:cNvPr id="26" name="TextBox 25"/>
          <p:cNvSpPr txBox="1"/>
          <p:nvPr/>
        </p:nvSpPr>
        <p:spPr>
          <a:xfrm>
            <a:off x="731520" y="6446520"/>
            <a:ext cx="5486400" cy="228600"/>
          </a:xfrm>
          <a:prstGeom prst="rect">
            <a:avLst/>
          </a:prstGeom>
          <a:noFill/>
        </p:spPr>
        <p:txBody>
          <a:bodyPr wrap="none" lIns="0" rIns="0" tIns="0" bIns="0">
            <a:spAutoFit/>
          </a:bodyPr>
          <a:lstStyle/>
          <a:p>
            <a:pPr>
              <a:defRPr sz="850">
                <a:solidFill>
                  <a:srgbClr val="475569"/>
                </a:solidFill>
                <a:latin typeface="Arial"/>
              </a:defRPr>
            </a:pPr>
            <a:r>
              <a:t>DataRequestStudio | Transformasi Tata Kelola Data CEISA Data Warehouse</a:t>
            </a:r>
          </a:p>
        </p:txBody>
      </p:sp>
      <p:sp>
        <p:nvSpPr>
          <p:cNvPr id="27" name="TextBox 26"/>
          <p:cNvSpPr txBox="1"/>
          <p:nvPr/>
        </p:nvSpPr>
        <p:spPr>
          <a:xfrm>
            <a:off x="4572000" y="6446520"/>
            <a:ext cx="3047695" cy="228600"/>
          </a:xfrm>
          <a:prstGeom prst="rect">
            <a:avLst/>
          </a:prstGeom>
          <a:noFill/>
        </p:spPr>
        <p:txBody>
          <a:bodyPr wrap="none" lIns="0" rIns="0" tIns="0" bIns="0">
            <a:spAutoFit/>
          </a:bodyPr>
          <a:lstStyle/>
          <a:p>
            <a:pPr algn="ctr">
              <a:defRPr sz="850">
                <a:solidFill>
                  <a:srgbClr val="475569"/>
                </a:solidFill>
                <a:latin typeface="Arial"/>
              </a:defRPr>
            </a:pPr>
            <a:r>
              <a:t>Klasifikasi: Terbatas / Khusus DJBC &amp; Kemenkeu</a:t>
            </a:r>
          </a:p>
        </p:txBody>
      </p:sp>
      <p:sp>
        <p:nvSpPr>
          <p:cNvPr id="28" name="TextBox 27"/>
          <p:cNvSpPr txBox="1"/>
          <p:nvPr/>
        </p:nvSpPr>
        <p:spPr>
          <a:xfrm>
            <a:off x="9631375" y="6446520"/>
            <a:ext cx="1828800" cy="228600"/>
          </a:xfrm>
          <a:prstGeom prst="rect">
            <a:avLst/>
          </a:prstGeom>
          <a:noFill/>
        </p:spPr>
        <p:txBody>
          <a:bodyPr wrap="none" lIns="0" rIns="0" tIns="0" bIns="0">
            <a:spAutoFit/>
          </a:bodyPr>
          <a:lstStyle/>
          <a:p>
            <a:pPr algn="r">
              <a:defRPr sz="850">
                <a:solidFill>
                  <a:srgbClr val="475569"/>
                </a:solidFill>
                <a:latin typeface="Arial"/>
              </a:defRPr>
            </a:pPr>
            <a:r>
              <a:t>Slide 5 dari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lIns="0" rIns="0" tIns="0" bIns="0">
            <a:spAutoFit/>
          </a:bodyPr>
          <a:lstStyle/>
          <a:p>
            <a:pPr>
              <a:defRPr sz="950" b="1">
                <a:solidFill>
                  <a:srgbClr val="0077C8"/>
                </a:solidFill>
                <a:latin typeface="Arial"/>
              </a:defRPr>
            </a:pPr>
            <a:r>
              <a:t>WHY — PENGUNGKIT NILAI STRATEGIS (VALUE DRIVERS)</a:t>
            </a:r>
          </a:p>
        </p:txBody>
      </p:sp>
      <p:sp>
        <p:nvSpPr>
          <p:cNvPr id="3" name="TextBox 2"/>
          <p:cNvSpPr txBox="1"/>
          <p:nvPr/>
        </p:nvSpPr>
        <p:spPr>
          <a:xfrm>
            <a:off x="731520" y="685800"/>
            <a:ext cx="10728655" cy="548640"/>
          </a:xfrm>
          <a:prstGeom prst="rect">
            <a:avLst/>
          </a:prstGeom>
          <a:noFill/>
        </p:spPr>
        <p:txBody>
          <a:bodyPr wrap="square" lIns="0" rIns="0" tIns="0" bIns="0">
            <a:spAutoFit/>
          </a:bodyPr>
          <a:lstStyle/>
          <a:p>
            <a:pPr>
              <a:defRPr sz="1900" b="1">
                <a:solidFill>
                  <a:srgbClr val="0F2042"/>
                </a:solidFill>
                <a:latin typeface="Arial"/>
              </a:defRPr>
            </a:pPr>
            <a:r>
              <a:t>Empat pengungkit nilai utama mendorong efisiensi operasional dan memperkuat integritas tata kelola data DJBC.</a:t>
            </a:r>
          </a:p>
        </p:txBody>
      </p:sp>
      <p:sp>
        <p:nvSpPr>
          <p:cNvPr id="4" name="TextBox 3"/>
          <p:cNvSpPr txBox="1"/>
          <p:nvPr/>
        </p:nvSpPr>
        <p:spPr>
          <a:xfrm>
            <a:off x="731520" y="1234440"/>
            <a:ext cx="10728655" cy="320040"/>
          </a:xfrm>
          <a:prstGeom prst="rect">
            <a:avLst/>
          </a:prstGeom>
          <a:noFill/>
        </p:spPr>
        <p:txBody>
          <a:bodyPr wrap="square" lIns="0" rIns="0" tIns="0" bIns="0">
            <a:spAutoFit/>
          </a:bodyPr>
          <a:lstStyle/>
          <a:p>
            <a:pPr>
              <a:defRPr sz="1100">
                <a:solidFill>
                  <a:srgbClr val="475569"/>
                </a:solidFill>
                <a:latin typeface="Arial"/>
              </a:defRPr>
            </a:pPr>
            <a:r>
              <a:t>Kombinasi efisiensi waktu, mitigasi risiko hukum, dan optimalisasi infrastruktur menghasilkan dampak nyata bagi institusi.</a:t>
            </a:r>
          </a:p>
        </p:txBody>
      </p:sp>
      <p:sp>
        <p:nvSpPr>
          <p:cNvPr id="5" name="Rectangle 4"/>
          <p:cNvSpPr/>
          <p:nvPr/>
        </p:nvSpPr>
        <p:spPr>
          <a:xfrm>
            <a:off x="731520" y="157276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2560320" cy="40233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2560320" cy="1005840"/>
          </a:xfrm>
          <a:prstGeom prst="rect">
            <a:avLst/>
          </a:prstGeom>
          <a:solidFill>
            <a:srgbClr val="0077C8"/>
          </a:solidFill>
          <a:ln>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560320" cy="822960"/>
          </a:xfrm>
          <a:prstGeom prst="rect">
            <a:avLst/>
          </a:prstGeom>
          <a:noFill/>
        </p:spPr>
        <p:txBody>
          <a:bodyPr wrap="square">
            <a:spAutoFit/>
          </a:bodyPr>
          <a:lstStyle/>
          <a:p>
            <a:pPr algn="ctr">
              <a:defRPr sz="2600" b="1">
                <a:solidFill>
                  <a:srgbClr val="FFFFFF"/>
                </a:solidFill>
                <a:latin typeface="Arial"/>
              </a:defRPr>
            </a:pPr>
            <a:r>
              <a:t>85%</a:t>
            </a:r>
          </a:p>
          <a:p>
            <a:pPr algn="ctr">
              <a:defRPr sz="850">
                <a:solidFill>
                  <a:srgbClr val="E2E8F0"/>
                </a:solidFill>
                <a:latin typeface="Arial"/>
              </a:defRPr>
            </a:pPr>
            <a:r>
              <a:t>Penghematan Waktu Siklus</a:t>
            </a:r>
          </a:p>
        </p:txBody>
      </p:sp>
      <p:sp>
        <p:nvSpPr>
          <p:cNvPr id="9" name="TextBox 8"/>
          <p:cNvSpPr txBox="1"/>
          <p:nvPr/>
        </p:nvSpPr>
        <p:spPr>
          <a:xfrm>
            <a:off x="896112" y="2880360"/>
            <a:ext cx="2231136" cy="2743200"/>
          </a:xfrm>
          <a:prstGeom prst="rect">
            <a:avLst/>
          </a:prstGeom>
          <a:noFill/>
        </p:spPr>
        <p:txBody>
          <a:bodyPr wrap="square" lIns="0" rIns="0" tIns="0" bIns="0">
            <a:spAutoFit/>
          </a:bodyPr>
          <a:lstStyle/>
          <a:p>
            <a:pPr>
              <a:defRPr sz="850" b="1">
                <a:solidFill>
                  <a:srgbClr val="475569"/>
                </a:solidFill>
                <a:latin typeface="Arial"/>
              </a:defRPr>
            </a:pPr>
            <a:r>
              <a:t>1. EFISIENSI WAKTU &amp; BIAYA</a:t>
            </a:r>
          </a:p>
          <a:p>
            <a:pPr>
              <a:spcAft>
                <a:spcPts val="600"/>
              </a:spcAft>
              <a:defRPr sz="1100" b="1">
                <a:solidFill>
                  <a:srgbClr val="0F2042"/>
                </a:solidFill>
                <a:latin typeface="Arial"/>
              </a:defRPr>
            </a:pPr>
            <a:r>
              <a:t>Reduksi 85% Lead Time</a:t>
            </a:r>
          </a:p>
          <a:p>
            <a:pPr>
              <a:defRPr sz="950">
                <a:solidFill>
                  <a:srgbClr val="1E293B"/>
                </a:solidFill>
                <a:latin typeface="Arial"/>
              </a:defRPr>
            </a:pPr>
            <a:r>
              <a:t>Memangkas ratusan jam kerja yang sebelumnya terbuang pada birokrasi manual dan drafting kueri ad-hoc berulang. Tim analis dapat langsung fokus pada perumusan rekomendasi kebijakan.</a:t>
            </a:r>
          </a:p>
        </p:txBody>
      </p:sp>
      <p:sp>
        <p:nvSpPr>
          <p:cNvPr id="10" name="Rectangle 9"/>
          <p:cNvSpPr/>
          <p:nvPr/>
        </p:nvSpPr>
        <p:spPr>
          <a:xfrm>
            <a:off x="3474720" y="1737360"/>
            <a:ext cx="2560320" cy="40233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74720" y="1737360"/>
            <a:ext cx="2560320" cy="1005840"/>
          </a:xfrm>
          <a:prstGeom prst="rect">
            <a:avLst/>
          </a:prstGeom>
          <a:solidFill>
            <a:srgbClr val="109577"/>
          </a:solidFill>
          <a:ln>
            <a:solidFill>
              <a:srgbClr val="109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828800"/>
            <a:ext cx="2560320" cy="822960"/>
          </a:xfrm>
          <a:prstGeom prst="rect">
            <a:avLst/>
          </a:prstGeom>
          <a:noFill/>
        </p:spPr>
        <p:txBody>
          <a:bodyPr wrap="square">
            <a:spAutoFit/>
          </a:bodyPr>
          <a:lstStyle/>
          <a:p>
            <a:pPr algn="ctr">
              <a:defRPr sz="2600" b="1">
                <a:solidFill>
                  <a:srgbClr val="FFFFFF"/>
                </a:solidFill>
                <a:latin typeface="Arial"/>
              </a:defRPr>
            </a:pPr>
            <a:r>
              <a:t>100%</a:t>
            </a:r>
          </a:p>
          <a:p>
            <a:pPr algn="ctr">
              <a:defRPr sz="850">
                <a:solidFill>
                  <a:srgbClr val="E2E8F0"/>
                </a:solidFill>
                <a:latin typeface="Arial"/>
              </a:defRPr>
            </a:pPr>
            <a:r>
              <a:t>Patuh UU No. 27/2022</a:t>
            </a:r>
          </a:p>
        </p:txBody>
      </p:sp>
      <p:sp>
        <p:nvSpPr>
          <p:cNvPr id="13" name="TextBox 12"/>
          <p:cNvSpPr txBox="1"/>
          <p:nvPr/>
        </p:nvSpPr>
        <p:spPr>
          <a:xfrm>
            <a:off x="3639312" y="2880360"/>
            <a:ext cx="2231136" cy="2743200"/>
          </a:xfrm>
          <a:prstGeom prst="rect">
            <a:avLst/>
          </a:prstGeom>
          <a:noFill/>
        </p:spPr>
        <p:txBody>
          <a:bodyPr wrap="square" lIns="0" rIns="0" tIns="0" bIns="0">
            <a:spAutoFit/>
          </a:bodyPr>
          <a:lstStyle/>
          <a:p>
            <a:pPr>
              <a:defRPr sz="850" b="1">
                <a:solidFill>
                  <a:srgbClr val="475569"/>
                </a:solidFill>
                <a:latin typeface="Arial"/>
              </a:defRPr>
            </a:pPr>
            <a:r>
              <a:t>2. MITIGASI RISIKO HUKUM</a:t>
            </a:r>
          </a:p>
          <a:p>
            <a:pPr>
              <a:spcAft>
                <a:spcPts val="600"/>
              </a:spcAft>
              <a:defRPr sz="1100" b="1">
                <a:solidFill>
                  <a:srgbClr val="0F2042"/>
                </a:solidFill>
                <a:latin typeface="Arial"/>
              </a:defRPr>
            </a:pPr>
            <a:r>
              <a:t>Kepatuhan 100% UU PDP</a:t>
            </a:r>
          </a:p>
          <a:p>
            <a:pPr>
              <a:defRPr sz="950">
                <a:solidFill>
                  <a:srgbClr val="1E293B"/>
                </a:solidFill>
                <a:latin typeface="Arial"/>
              </a:defRPr>
            </a:pPr>
            <a:r>
              <a:t>Penerapan automated data classification dan masking dinamis mengeliminasi risiko sanksi administratif dan hukum terkait kebocoran data rahasia wajib pajak dan pengguna jasa.</a:t>
            </a:r>
          </a:p>
        </p:txBody>
      </p:sp>
      <p:sp>
        <p:nvSpPr>
          <p:cNvPr id="14" name="Rectangle 13"/>
          <p:cNvSpPr/>
          <p:nvPr/>
        </p:nvSpPr>
        <p:spPr>
          <a:xfrm>
            <a:off x="6217920" y="1737360"/>
            <a:ext cx="2560320" cy="40233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737360"/>
            <a:ext cx="2560320"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828800"/>
            <a:ext cx="2560320" cy="822960"/>
          </a:xfrm>
          <a:prstGeom prst="rect">
            <a:avLst/>
          </a:prstGeom>
          <a:noFill/>
        </p:spPr>
        <p:txBody>
          <a:bodyPr wrap="square">
            <a:spAutoFit/>
          </a:bodyPr>
          <a:lstStyle/>
          <a:p>
            <a:pPr algn="ctr">
              <a:defRPr sz="2600" b="1">
                <a:solidFill>
                  <a:srgbClr val="FFFFFF"/>
                </a:solidFill>
                <a:latin typeface="Arial"/>
              </a:defRPr>
            </a:pPr>
            <a:r>
              <a:t>0%</a:t>
            </a:r>
          </a:p>
          <a:p>
            <a:pPr algn="ctr">
              <a:defRPr sz="850">
                <a:solidFill>
                  <a:srgbClr val="E2E8F0"/>
                </a:solidFill>
                <a:latin typeface="Arial"/>
              </a:defRPr>
            </a:pPr>
            <a:r>
              <a:t>Inkonsistensi Logika Data</a:t>
            </a:r>
          </a:p>
        </p:txBody>
      </p:sp>
      <p:sp>
        <p:nvSpPr>
          <p:cNvPr id="17" name="TextBox 16"/>
          <p:cNvSpPr txBox="1"/>
          <p:nvPr/>
        </p:nvSpPr>
        <p:spPr>
          <a:xfrm>
            <a:off x="6382512" y="2880360"/>
            <a:ext cx="2231136" cy="2743200"/>
          </a:xfrm>
          <a:prstGeom prst="rect">
            <a:avLst/>
          </a:prstGeom>
          <a:noFill/>
        </p:spPr>
        <p:txBody>
          <a:bodyPr wrap="square" lIns="0" rIns="0" tIns="0" bIns="0">
            <a:spAutoFit/>
          </a:bodyPr>
          <a:lstStyle/>
          <a:p>
            <a:pPr>
              <a:defRPr sz="850" b="1">
                <a:solidFill>
                  <a:srgbClr val="475569"/>
                </a:solidFill>
                <a:latin typeface="Arial"/>
              </a:defRPr>
            </a:pPr>
            <a:r>
              <a:t>3. KUALITAS &amp; KONSISTENSI</a:t>
            </a:r>
          </a:p>
          <a:p>
            <a:pPr>
              <a:spcAft>
                <a:spcPts val="600"/>
              </a:spcAft>
              <a:defRPr sz="1100" b="1">
                <a:solidFill>
                  <a:srgbClr val="0F2042"/>
                </a:solidFill>
                <a:latin typeface="Arial"/>
              </a:defRPr>
            </a:pPr>
            <a:r>
              <a:t>Single Source of Truth</a:t>
            </a:r>
          </a:p>
          <a:p>
            <a:pPr>
              <a:defRPr sz="950">
                <a:solidFill>
                  <a:srgbClr val="1E293B"/>
                </a:solidFill>
                <a:latin typeface="Arial"/>
              </a:defRPr>
            </a:pPr>
            <a:r>
              <a:t>Menghilangkan inkonsistensi data antar unit kerja. Seluruh permohonan mengacu pada definisi skema dan relasi data mart resmi yang tersertifikasi di OpenMetadata CEISA DWH.</a:t>
            </a:r>
          </a:p>
        </p:txBody>
      </p:sp>
      <p:sp>
        <p:nvSpPr>
          <p:cNvPr id="18" name="Rectangle 17"/>
          <p:cNvSpPr/>
          <p:nvPr/>
        </p:nvSpPr>
        <p:spPr>
          <a:xfrm>
            <a:off x="8961120" y="1737360"/>
            <a:ext cx="2560320" cy="40233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0" y="1737360"/>
            <a:ext cx="2560320" cy="100584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0" y="1828800"/>
            <a:ext cx="2560320" cy="822960"/>
          </a:xfrm>
          <a:prstGeom prst="rect">
            <a:avLst/>
          </a:prstGeom>
          <a:noFill/>
        </p:spPr>
        <p:txBody>
          <a:bodyPr wrap="square">
            <a:spAutoFit/>
          </a:bodyPr>
          <a:lstStyle/>
          <a:p>
            <a:pPr algn="ctr">
              <a:defRPr sz="2600" b="1">
                <a:solidFill>
                  <a:srgbClr val="FFFFFF"/>
                </a:solidFill>
                <a:latin typeface="Arial"/>
              </a:defRPr>
            </a:pPr>
            <a:r>
              <a:t>24/7</a:t>
            </a:r>
          </a:p>
          <a:p>
            <a:pPr algn="ctr">
              <a:defRPr sz="850">
                <a:solidFill>
                  <a:srgbClr val="E2E8F0"/>
                </a:solidFill>
                <a:latin typeface="Arial"/>
              </a:defRPr>
            </a:pPr>
            <a:r>
              <a:t>Audit Trail Real-Time</a:t>
            </a:r>
          </a:p>
        </p:txBody>
      </p:sp>
      <p:sp>
        <p:nvSpPr>
          <p:cNvPr id="21" name="TextBox 20"/>
          <p:cNvSpPr txBox="1"/>
          <p:nvPr/>
        </p:nvSpPr>
        <p:spPr>
          <a:xfrm>
            <a:off x="9125712" y="2880360"/>
            <a:ext cx="2231136" cy="2743200"/>
          </a:xfrm>
          <a:prstGeom prst="rect">
            <a:avLst/>
          </a:prstGeom>
          <a:noFill/>
        </p:spPr>
        <p:txBody>
          <a:bodyPr wrap="square" lIns="0" rIns="0" tIns="0" bIns="0">
            <a:spAutoFit/>
          </a:bodyPr>
          <a:lstStyle/>
          <a:p>
            <a:pPr>
              <a:defRPr sz="850" b="1">
                <a:solidFill>
                  <a:srgbClr val="475569"/>
                </a:solidFill>
                <a:latin typeface="Arial"/>
              </a:defRPr>
            </a:pPr>
            <a:r>
              <a:t>4. INTEGRITAS TATA KELOLA</a:t>
            </a:r>
          </a:p>
          <a:p>
            <a:pPr>
              <a:spcAft>
                <a:spcPts val="600"/>
              </a:spcAft>
              <a:defRPr sz="1100" b="1">
                <a:solidFill>
                  <a:srgbClr val="0F2042"/>
                </a:solidFill>
                <a:latin typeface="Arial"/>
              </a:defRPr>
            </a:pPr>
            <a:r>
              <a:t>Digital Audit Forensik</a:t>
            </a:r>
          </a:p>
          <a:p>
            <a:pPr>
              <a:defRPr sz="950">
                <a:solidFill>
                  <a:srgbClr val="1E293B"/>
                </a:solidFill>
                <a:latin typeface="Arial"/>
              </a:defRPr>
            </a:pPr>
            <a:r>
              <a:t>Setiap akses tercatat lengkap dengan identitas pemohon, unit kerja, alasan kedinasan, waktu penandatanganan, dan durasi eksekusi kueri, siap diaudit BPK maupun Itjen Kemenkeu.</a:t>
            </a:r>
          </a:p>
        </p:txBody>
      </p:sp>
      <p:sp>
        <p:nvSpPr>
          <p:cNvPr id="22" name="TextBox 21"/>
          <p:cNvSpPr txBox="1"/>
          <p:nvPr/>
        </p:nvSpPr>
        <p:spPr>
          <a:xfrm>
            <a:off x="731520" y="6446520"/>
            <a:ext cx="5486400" cy="228600"/>
          </a:xfrm>
          <a:prstGeom prst="rect">
            <a:avLst/>
          </a:prstGeom>
          <a:noFill/>
        </p:spPr>
        <p:txBody>
          <a:bodyPr wrap="none" lIns="0" rIns="0" tIns="0" bIns="0">
            <a:spAutoFit/>
          </a:bodyPr>
          <a:lstStyle/>
          <a:p>
            <a:pPr>
              <a:defRPr sz="850">
                <a:solidFill>
                  <a:srgbClr val="475569"/>
                </a:solidFill>
                <a:latin typeface="Arial"/>
              </a:defRPr>
            </a:pPr>
            <a:r>
              <a:t>DataRequestStudio | Transformasi Tata Kelola Data CEISA Data Warehouse</a:t>
            </a:r>
          </a:p>
        </p:txBody>
      </p:sp>
      <p:sp>
        <p:nvSpPr>
          <p:cNvPr id="23" name="TextBox 22"/>
          <p:cNvSpPr txBox="1"/>
          <p:nvPr/>
        </p:nvSpPr>
        <p:spPr>
          <a:xfrm>
            <a:off x="4572000" y="6446520"/>
            <a:ext cx="3047695" cy="228600"/>
          </a:xfrm>
          <a:prstGeom prst="rect">
            <a:avLst/>
          </a:prstGeom>
          <a:noFill/>
        </p:spPr>
        <p:txBody>
          <a:bodyPr wrap="none" lIns="0" rIns="0" tIns="0" bIns="0">
            <a:spAutoFit/>
          </a:bodyPr>
          <a:lstStyle/>
          <a:p>
            <a:pPr algn="ctr">
              <a:defRPr sz="850">
                <a:solidFill>
                  <a:srgbClr val="475569"/>
                </a:solidFill>
                <a:latin typeface="Arial"/>
              </a:defRPr>
            </a:pPr>
            <a:r>
              <a:t>Klasifikasi: Terbatas / Khusus DJBC &amp; Kemenkeu</a:t>
            </a:r>
          </a:p>
        </p:txBody>
      </p:sp>
      <p:sp>
        <p:nvSpPr>
          <p:cNvPr id="24" name="TextBox 23"/>
          <p:cNvSpPr txBox="1"/>
          <p:nvPr/>
        </p:nvSpPr>
        <p:spPr>
          <a:xfrm>
            <a:off x="9631375" y="6446520"/>
            <a:ext cx="1828800" cy="228600"/>
          </a:xfrm>
          <a:prstGeom prst="rect">
            <a:avLst/>
          </a:prstGeom>
          <a:noFill/>
        </p:spPr>
        <p:txBody>
          <a:bodyPr wrap="none" lIns="0" rIns="0" tIns="0" bIns="0">
            <a:spAutoFit/>
          </a:bodyPr>
          <a:lstStyle/>
          <a:p>
            <a:pPr algn="r">
              <a:defRPr sz="850">
                <a:solidFill>
                  <a:srgbClr val="475569"/>
                </a:solidFill>
                <a:latin typeface="Arial"/>
              </a:defRPr>
            </a:pPr>
            <a:r>
              <a:t>Slide 6 dari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lIns="0" rIns="0" tIns="0" bIns="0">
            <a:spAutoFit/>
          </a:bodyPr>
          <a:lstStyle/>
          <a:p>
            <a:pPr>
              <a:defRPr sz="950" b="1">
                <a:solidFill>
                  <a:srgbClr val="0077C8"/>
                </a:solidFill>
                <a:latin typeface="Arial"/>
              </a:defRPr>
            </a:pPr>
            <a:r>
              <a:t>HOW TO ACCESS — ALUR PENGGUNA (USER JOURNEY)</a:t>
            </a:r>
          </a:p>
        </p:txBody>
      </p:sp>
      <p:sp>
        <p:nvSpPr>
          <p:cNvPr id="3" name="TextBox 2"/>
          <p:cNvSpPr txBox="1"/>
          <p:nvPr/>
        </p:nvSpPr>
        <p:spPr>
          <a:xfrm>
            <a:off x="731520" y="685800"/>
            <a:ext cx="10728655" cy="548640"/>
          </a:xfrm>
          <a:prstGeom prst="rect">
            <a:avLst/>
          </a:prstGeom>
          <a:noFill/>
        </p:spPr>
        <p:txBody>
          <a:bodyPr wrap="square" lIns="0" rIns="0" tIns="0" bIns="0">
            <a:spAutoFit/>
          </a:bodyPr>
          <a:lstStyle/>
          <a:p>
            <a:pPr>
              <a:defRPr sz="1900" b="1">
                <a:solidFill>
                  <a:srgbClr val="0F2042"/>
                </a:solidFill>
                <a:latin typeface="Arial"/>
              </a:defRPr>
            </a:pPr>
            <a:r>
              <a:t>Pengguna dapat mengakses platform dan memperoleh data melalui 4 tahapan alur swalayan yang terstruktur dan aman.</a:t>
            </a:r>
          </a:p>
        </p:txBody>
      </p:sp>
      <p:sp>
        <p:nvSpPr>
          <p:cNvPr id="4" name="TextBox 3"/>
          <p:cNvSpPr txBox="1"/>
          <p:nvPr/>
        </p:nvSpPr>
        <p:spPr>
          <a:xfrm>
            <a:off x="731520" y="1234440"/>
            <a:ext cx="10728655" cy="320040"/>
          </a:xfrm>
          <a:prstGeom prst="rect">
            <a:avLst/>
          </a:prstGeom>
          <a:noFill/>
        </p:spPr>
        <p:txBody>
          <a:bodyPr wrap="square" lIns="0" rIns="0" tIns="0" bIns="0">
            <a:spAutoFit/>
          </a:bodyPr>
          <a:lstStyle/>
          <a:p>
            <a:pPr>
              <a:defRPr sz="1100">
                <a:solidFill>
                  <a:srgbClr val="475569"/>
                </a:solidFill>
                <a:latin typeface="Arial"/>
              </a:defRPr>
            </a:pPr>
            <a:r>
              <a:t>Setiap tahapan dilengkapi validasi sistem otomatis untuk meminimalisasi kesalahan konfigurasi data.</a:t>
            </a:r>
          </a:p>
        </p:txBody>
      </p:sp>
      <p:sp>
        <p:nvSpPr>
          <p:cNvPr id="5" name="Rectangle 4"/>
          <p:cNvSpPr/>
          <p:nvPr/>
        </p:nvSpPr>
        <p:spPr>
          <a:xfrm>
            <a:off x="731520" y="157276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2560320" cy="39319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2560320" cy="86868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86000" cy="731520"/>
          </a:xfrm>
          <a:prstGeom prst="rect">
            <a:avLst/>
          </a:prstGeom>
          <a:noFill/>
        </p:spPr>
        <p:txBody>
          <a:bodyPr wrap="square">
            <a:spAutoFit/>
          </a:bodyPr>
          <a:lstStyle/>
          <a:p>
            <a:pPr>
              <a:defRPr sz="850" b="1">
                <a:solidFill>
                  <a:srgbClr val="E2E8F0"/>
                </a:solidFill>
                <a:latin typeface="Arial"/>
              </a:defRPr>
            </a:pPr>
            <a:r>
              <a:t>LANGKAH 1</a:t>
            </a:r>
          </a:p>
          <a:p>
            <a:pPr>
              <a:defRPr sz="1100" b="1">
                <a:solidFill>
                  <a:srgbClr val="FFFFFF"/>
                </a:solidFill>
                <a:latin typeface="Arial"/>
              </a:defRPr>
            </a:pPr>
            <a:r>
              <a:t>Otentikasi &amp; Profiling</a:t>
            </a:r>
          </a:p>
        </p:txBody>
      </p:sp>
      <p:sp>
        <p:nvSpPr>
          <p:cNvPr id="9" name="TextBox 8"/>
          <p:cNvSpPr txBox="1"/>
          <p:nvPr/>
        </p:nvSpPr>
        <p:spPr>
          <a:xfrm>
            <a:off x="896112" y="2743200"/>
            <a:ext cx="2231136" cy="2743200"/>
          </a:xfrm>
          <a:prstGeom prst="rect">
            <a:avLst/>
          </a:prstGeom>
          <a:noFill/>
        </p:spPr>
        <p:txBody>
          <a:bodyPr wrap="square" lIns="0" rIns="0" tIns="0" bIns="0">
            <a:spAutoFit/>
          </a:bodyPr>
          <a:lstStyle/>
          <a:p>
            <a:pPr>
              <a:spcAft>
                <a:spcPts val="800"/>
              </a:spcAft>
              <a:defRPr sz="950" b="1">
                <a:solidFill>
                  <a:srgbClr val="0F2042"/>
                </a:solidFill>
                <a:latin typeface="Arial"/>
              </a:defRPr>
            </a:pPr>
            <a:r>
              <a:t>Login Single Sign-On (SSO)</a:t>
            </a:r>
          </a:p>
          <a:p>
            <a:pPr>
              <a:spcAft>
                <a:spcPts val="600"/>
              </a:spcAft>
              <a:defRPr sz="900">
                <a:solidFill>
                  <a:srgbClr val="1E293B"/>
                </a:solidFill>
                <a:latin typeface="Arial"/>
              </a:defRPr>
            </a:pPr>
            <a:r>
              <a:t>•  Akses portal menggunakan peramban web modern.</a:t>
            </a:r>
          </a:p>
          <a:p>
            <a:pPr>
              <a:spcAft>
                <a:spcPts val="600"/>
              </a:spcAft>
              <a:defRPr sz="900">
                <a:solidFill>
                  <a:srgbClr val="1E293B"/>
                </a:solidFill>
                <a:latin typeface="Arial"/>
              </a:defRPr>
            </a:pPr>
            <a:r>
              <a:t>•  Login menggunakan akun SSO resmi Kementerian Keuangan.</a:t>
            </a:r>
          </a:p>
          <a:p>
            <a:pPr>
              <a:spcAft>
                <a:spcPts val="600"/>
              </a:spcAft>
              <a:defRPr sz="900">
                <a:solidFill>
                  <a:srgbClr val="1E293B"/>
                </a:solidFill>
                <a:latin typeface="Arial"/>
              </a:defRPr>
            </a:pPr>
            <a:r>
              <a:t>•  Sistem mengidentifikasi unit kerja dan menetapkan peran pengguna (RBAC) secara otomatis.</a:t>
            </a:r>
          </a:p>
        </p:txBody>
      </p:sp>
      <p:sp>
        <p:nvSpPr>
          <p:cNvPr id="10" name="Rectangle 9"/>
          <p:cNvSpPr/>
          <p:nvPr/>
        </p:nvSpPr>
        <p:spPr>
          <a:xfrm>
            <a:off x="3474720" y="1737360"/>
            <a:ext cx="2560320" cy="39319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74720" y="1737360"/>
            <a:ext cx="2560320" cy="868680"/>
          </a:xfrm>
          <a:prstGeom prst="rect">
            <a:avLst/>
          </a:prstGeom>
          <a:solidFill>
            <a:srgbClr val="0077C8"/>
          </a:solidFill>
          <a:ln>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10512"/>
            <a:ext cx="2286000" cy="731520"/>
          </a:xfrm>
          <a:prstGeom prst="rect">
            <a:avLst/>
          </a:prstGeom>
          <a:noFill/>
        </p:spPr>
        <p:txBody>
          <a:bodyPr wrap="square">
            <a:spAutoFit/>
          </a:bodyPr>
          <a:lstStyle/>
          <a:p>
            <a:pPr>
              <a:defRPr sz="850" b="1">
                <a:solidFill>
                  <a:srgbClr val="E2E8F0"/>
                </a:solidFill>
                <a:latin typeface="Arial"/>
              </a:defRPr>
            </a:pPr>
            <a:r>
              <a:t>LANGKAH 2</a:t>
            </a:r>
          </a:p>
          <a:p>
            <a:pPr>
              <a:defRPr sz="1100" b="1">
                <a:solidFill>
                  <a:srgbClr val="FFFFFF"/>
                </a:solidFill>
                <a:latin typeface="Arial"/>
              </a:defRPr>
            </a:pPr>
            <a:r>
              <a:t>Eksplorasi Katalog</a:t>
            </a:r>
          </a:p>
        </p:txBody>
      </p:sp>
      <p:sp>
        <p:nvSpPr>
          <p:cNvPr id="13" name="TextBox 12"/>
          <p:cNvSpPr txBox="1"/>
          <p:nvPr/>
        </p:nvSpPr>
        <p:spPr>
          <a:xfrm>
            <a:off x="3639312" y="2743200"/>
            <a:ext cx="2231136" cy="2743200"/>
          </a:xfrm>
          <a:prstGeom prst="rect">
            <a:avLst/>
          </a:prstGeom>
          <a:noFill/>
        </p:spPr>
        <p:txBody>
          <a:bodyPr wrap="square" lIns="0" rIns="0" tIns="0" bIns="0">
            <a:spAutoFit/>
          </a:bodyPr>
          <a:lstStyle/>
          <a:p>
            <a:pPr>
              <a:spcAft>
                <a:spcPts val="800"/>
              </a:spcAft>
              <a:defRPr sz="950" b="1">
                <a:solidFill>
                  <a:srgbClr val="0F2042"/>
                </a:solidFill>
                <a:latin typeface="Arial"/>
              </a:defRPr>
            </a:pPr>
            <a:r>
              <a:t>Pemilihan Entitas &amp; Parameter</a:t>
            </a:r>
          </a:p>
          <a:p>
            <a:pPr>
              <a:spcAft>
                <a:spcPts val="600"/>
              </a:spcAft>
              <a:defRPr sz="900">
                <a:solidFill>
                  <a:srgbClr val="1E293B"/>
                </a:solidFill>
                <a:latin typeface="Arial"/>
              </a:defRPr>
            </a:pPr>
            <a:r>
              <a:t>•  Pilih domain proses bisnis (Impor, Ekspor, Cukai, Fasilitas, Manifest, Perbendaharaan).</a:t>
            </a:r>
          </a:p>
          <a:p>
            <a:pPr>
              <a:spcAft>
                <a:spcPts val="600"/>
              </a:spcAft>
              <a:defRPr sz="900">
                <a:solidFill>
                  <a:srgbClr val="1E293B"/>
                </a:solidFill>
                <a:latin typeface="Arial"/>
              </a:defRPr>
            </a:pPr>
            <a:r>
              <a:t>•  Telusuri tabel dan pilih atribut kolom spesifik pada OpenMetadata Catalog.</a:t>
            </a:r>
          </a:p>
          <a:p>
            <a:pPr>
              <a:spcAft>
                <a:spcPts val="600"/>
              </a:spcAft>
              <a:defRPr sz="900">
                <a:solidFill>
                  <a:srgbClr val="1E293B"/>
                </a:solidFill>
                <a:latin typeface="Arial"/>
              </a:defRPr>
            </a:pPr>
            <a:r>
              <a:t>•  Tentukan rentang tanggal dan kriteria filter agregasi data.</a:t>
            </a:r>
          </a:p>
        </p:txBody>
      </p:sp>
      <p:sp>
        <p:nvSpPr>
          <p:cNvPr id="14" name="Rectangle 13"/>
          <p:cNvSpPr/>
          <p:nvPr/>
        </p:nvSpPr>
        <p:spPr>
          <a:xfrm>
            <a:off x="6217920" y="1737360"/>
            <a:ext cx="2560320" cy="39319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737360"/>
            <a:ext cx="2560320" cy="86868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810512"/>
            <a:ext cx="2286000" cy="731520"/>
          </a:xfrm>
          <a:prstGeom prst="rect">
            <a:avLst/>
          </a:prstGeom>
          <a:noFill/>
        </p:spPr>
        <p:txBody>
          <a:bodyPr wrap="square">
            <a:spAutoFit/>
          </a:bodyPr>
          <a:lstStyle/>
          <a:p>
            <a:pPr>
              <a:defRPr sz="850" b="1">
                <a:solidFill>
                  <a:srgbClr val="E2E8F0"/>
                </a:solidFill>
                <a:latin typeface="Arial"/>
              </a:defRPr>
            </a:pPr>
            <a:r>
              <a:t>LANGKAH 3</a:t>
            </a:r>
          </a:p>
          <a:p>
            <a:pPr>
              <a:defRPr sz="1100" b="1">
                <a:solidFill>
                  <a:srgbClr val="FFFFFF"/>
                </a:solidFill>
                <a:latin typeface="Arial"/>
              </a:defRPr>
            </a:pPr>
            <a:r>
              <a:t>Justifikasi &amp; PDP Review</a:t>
            </a:r>
          </a:p>
        </p:txBody>
      </p:sp>
      <p:sp>
        <p:nvSpPr>
          <p:cNvPr id="17" name="TextBox 16"/>
          <p:cNvSpPr txBox="1"/>
          <p:nvPr/>
        </p:nvSpPr>
        <p:spPr>
          <a:xfrm>
            <a:off x="6382512" y="2743200"/>
            <a:ext cx="2231136" cy="2743200"/>
          </a:xfrm>
          <a:prstGeom prst="rect">
            <a:avLst/>
          </a:prstGeom>
          <a:noFill/>
        </p:spPr>
        <p:txBody>
          <a:bodyPr wrap="square" lIns="0" rIns="0" tIns="0" bIns="0">
            <a:spAutoFit/>
          </a:bodyPr>
          <a:lstStyle/>
          <a:p>
            <a:pPr>
              <a:spcAft>
                <a:spcPts val="800"/>
              </a:spcAft>
              <a:defRPr sz="950" b="1">
                <a:solidFill>
                  <a:srgbClr val="0F2042"/>
                </a:solidFill>
                <a:latin typeface="Arial"/>
              </a:defRPr>
            </a:pPr>
            <a:r>
              <a:t>Penyusunan Formulir Dinas</a:t>
            </a:r>
          </a:p>
          <a:p>
            <a:pPr>
              <a:spcAft>
                <a:spcPts val="600"/>
              </a:spcAft>
              <a:defRPr sz="900">
                <a:solidFill>
                  <a:srgbClr val="1E293B"/>
                </a:solidFill>
                <a:latin typeface="Arial"/>
              </a:defRPr>
            </a:pPr>
            <a:r>
              <a:t>•  Lengkapi latar belakang dinas, urgensi permohonan, dan estimasi volume baris.</a:t>
            </a:r>
          </a:p>
          <a:p>
            <a:pPr>
              <a:spcAft>
                <a:spcPts val="600"/>
              </a:spcAft>
              <a:defRPr sz="900">
                <a:solidFill>
                  <a:srgbClr val="1E293B"/>
                </a:solidFill>
                <a:latin typeface="Arial"/>
              </a:defRPr>
            </a:pPr>
            <a:r>
              <a:t>•  Sistem melakukan pra-pemeriksaan otomatis terhadap atribut sensitif (PII).</a:t>
            </a:r>
          </a:p>
          <a:p>
            <a:pPr>
              <a:spcAft>
                <a:spcPts val="600"/>
              </a:spcAft>
              <a:defRPr sz="900">
                <a:solidFill>
                  <a:srgbClr val="1E293B"/>
                </a:solidFill>
                <a:latin typeface="Arial"/>
              </a:defRPr>
            </a:pPr>
            <a:r>
              <a:t>•  Centang persetujuan pakta integritas kerahasiaan dan kepatuhan UU PDP.</a:t>
            </a:r>
          </a:p>
        </p:txBody>
      </p:sp>
      <p:sp>
        <p:nvSpPr>
          <p:cNvPr id="18" name="Rectangle 17"/>
          <p:cNvSpPr/>
          <p:nvPr/>
        </p:nvSpPr>
        <p:spPr>
          <a:xfrm>
            <a:off x="8961120" y="1737360"/>
            <a:ext cx="2560320" cy="39319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0" y="1737360"/>
            <a:ext cx="2560320" cy="868680"/>
          </a:xfrm>
          <a:prstGeom prst="rect">
            <a:avLst/>
          </a:prstGeom>
          <a:solidFill>
            <a:srgbClr val="109577"/>
          </a:solidFill>
          <a:ln>
            <a:solidFill>
              <a:srgbClr val="109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1810512"/>
            <a:ext cx="2286000" cy="731520"/>
          </a:xfrm>
          <a:prstGeom prst="rect">
            <a:avLst/>
          </a:prstGeom>
          <a:noFill/>
        </p:spPr>
        <p:txBody>
          <a:bodyPr wrap="square">
            <a:spAutoFit/>
          </a:bodyPr>
          <a:lstStyle/>
          <a:p>
            <a:pPr>
              <a:defRPr sz="850" b="1">
                <a:solidFill>
                  <a:srgbClr val="E2E8F0"/>
                </a:solidFill>
                <a:latin typeface="Arial"/>
              </a:defRPr>
            </a:pPr>
            <a:r>
              <a:t>LANGKAH 4</a:t>
            </a:r>
          </a:p>
          <a:p>
            <a:pPr>
              <a:defRPr sz="1100" b="1">
                <a:solidFill>
                  <a:srgbClr val="FFFFFF"/>
                </a:solidFill>
                <a:latin typeface="Arial"/>
              </a:defRPr>
            </a:pPr>
            <a:r>
              <a:t>Approval &amp; Unduh Aman</a:t>
            </a:r>
          </a:p>
        </p:txBody>
      </p:sp>
      <p:sp>
        <p:nvSpPr>
          <p:cNvPr id="21" name="TextBox 20"/>
          <p:cNvSpPr txBox="1"/>
          <p:nvPr/>
        </p:nvSpPr>
        <p:spPr>
          <a:xfrm>
            <a:off x="9125712" y="2743200"/>
            <a:ext cx="2231136" cy="2743200"/>
          </a:xfrm>
          <a:prstGeom prst="rect">
            <a:avLst/>
          </a:prstGeom>
          <a:noFill/>
        </p:spPr>
        <p:txBody>
          <a:bodyPr wrap="square" lIns="0" rIns="0" tIns="0" bIns="0">
            <a:spAutoFit/>
          </a:bodyPr>
          <a:lstStyle/>
          <a:p>
            <a:pPr>
              <a:spcAft>
                <a:spcPts val="800"/>
              </a:spcAft>
              <a:defRPr sz="950" b="1">
                <a:solidFill>
                  <a:srgbClr val="0F2042"/>
                </a:solidFill>
                <a:latin typeface="Arial"/>
              </a:defRPr>
            </a:pPr>
            <a:r>
              <a:t>Verifikasi &amp; Ekstraksi Data</a:t>
            </a:r>
          </a:p>
          <a:p>
            <a:pPr>
              <a:spcAft>
                <a:spcPts val="600"/>
              </a:spcAft>
              <a:defRPr sz="900">
                <a:solidFill>
                  <a:srgbClr val="1E293B"/>
                </a:solidFill>
                <a:latin typeface="Arial"/>
              </a:defRPr>
            </a:pPr>
            <a:r>
              <a:t>•  Data Steward meneliti urgensi dan memberikan persetujuan digital (Digital Sign-Off).</a:t>
            </a:r>
          </a:p>
          <a:p>
            <a:pPr>
              <a:spcAft>
                <a:spcPts val="600"/>
              </a:spcAft>
              <a:defRPr sz="900">
                <a:solidFill>
                  <a:srgbClr val="1E293B"/>
                </a:solidFill>
                <a:latin typeface="Arial"/>
              </a:defRPr>
            </a:pPr>
            <a:r>
              <a:t>•  Engine mengeksekusi kueri teroptimasi pada CEISA DWH dengan masking dinamis.</a:t>
            </a:r>
          </a:p>
          <a:p>
            <a:pPr>
              <a:spcAft>
                <a:spcPts val="600"/>
              </a:spcAft>
              <a:defRPr sz="900">
                <a:solidFill>
                  <a:srgbClr val="1E293B"/>
                </a:solidFill>
                <a:latin typeface="Arial"/>
              </a:defRPr>
            </a:pPr>
            <a:r>
              <a:t>•  Unduh dataset dalam format Excel (.xlsx) atau ZIP terenkripsi melalui CMS Repositori.</a:t>
            </a:r>
          </a:p>
        </p:txBody>
      </p:sp>
      <p:sp>
        <p:nvSpPr>
          <p:cNvPr id="22" name="Rectangle 21"/>
          <p:cNvSpPr/>
          <p:nvPr/>
        </p:nvSpPr>
        <p:spPr>
          <a:xfrm>
            <a:off x="731520" y="5806440"/>
            <a:ext cx="10728655" cy="502920"/>
          </a:xfrm>
          <a:prstGeom prst="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852160"/>
            <a:ext cx="10362895" cy="411480"/>
          </a:xfrm>
          <a:prstGeom prst="rect">
            <a:avLst/>
          </a:prstGeom>
          <a:noFill/>
        </p:spPr>
        <p:txBody>
          <a:bodyPr wrap="square">
            <a:spAutoFit/>
          </a:bodyPr>
          <a:lstStyle/>
          <a:p>
            <a:pPr>
              <a:defRPr sz="950" b="1">
                <a:solidFill>
                  <a:srgbClr val="1A365D"/>
                </a:solidFill>
                <a:latin typeface="Arial"/>
              </a:defRPr>
            </a:pPr>
            <a:r>
              <a:t>NOTIFIKASI REAL-TIME: Pemohon menerima notifikasi status langsung pada dashboard CMS di setiap perubahan tahapan review (Disetujui, Perlu Revisi, atau Ditolak).</a:t>
            </a:r>
          </a:p>
        </p:txBody>
      </p:sp>
      <p:sp>
        <p:nvSpPr>
          <p:cNvPr id="24" name="TextBox 23"/>
          <p:cNvSpPr txBox="1"/>
          <p:nvPr/>
        </p:nvSpPr>
        <p:spPr>
          <a:xfrm>
            <a:off x="731520" y="6446520"/>
            <a:ext cx="5486400" cy="228600"/>
          </a:xfrm>
          <a:prstGeom prst="rect">
            <a:avLst/>
          </a:prstGeom>
          <a:noFill/>
        </p:spPr>
        <p:txBody>
          <a:bodyPr wrap="none" lIns="0" rIns="0" tIns="0" bIns="0">
            <a:spAutoFit/>
          </a:bodyPr>
          <a:lstStyle/>
          <a:p>
            <a:pPr>
              <a:defRPr sz="850">
                <a:solidFill>
                  <a:srgbClr val="475569"/>
                </a:solidFill>
                <a:latin typeface="Arial"/>
              </a:defRPr>
            </a:pPr>
            <a:r>
              <a:t>DataRequestStudio | Transformasi Tata Kelola Data CEISA Data Warehouse</a:t>
            </a:r>
          </a:p>
        </p:txBody>
      </p:sp>
      <p:sp>
        <p:nvSpPr>
          <p:cNvPr id="25" name="TextBox 24"/>
          <p:cNvSpPr txBox="1"/>
          <p:nvPr/>
        </p:nvSpPr>
        <p:spPr>
          <a:xfrm>
            <a:off x="4572000" y="6446520"/>
            <a:ext cx="3047695" cy="228600"/>
          </a:xfrm>
          <a:prstGeom prst="rect">
            <a:avLst/>
          </a:prstGeom>
          <a:noFill/>
        </p:spPr>
        <p:txBody>
          <a:bodyPr wrap="none" lIns="0" rIns="0" tIns="0" bIns="0">
            <a:spAutoFit/>
          </a:bodyPr>
          <a:lstStyle/>
          <a:p>
            <a:pPr algn="ctr">
              <a:defRPr sz="850">
                <a:solidFill>
                  <a:srgbClr val="475569"/>
                </a:solidFill>
                <a:latin typeface="Arial"/>
              </a:defRPr>
            </a:pPr>
            <a:r>
              <a:t>Klasifikasi: Terbatas / Khusus DJBC &amp; Kemenkeu</a:t>
            </a:r>
          </a:p>
        </p:txBody>
      </p:sp>
      <p:sp>
        <p:nvSpPr>
          <p:cNvPr id="26" name="TextBox 25"/>
          <p:cNvSpPr txBox="1"/>
          <p:nvPr/>
        </p:nvSpPr>
        <p:spPr>
          <a:xfrm>
            <a:off x="9631375" y="6446520"/>
            <a:ext cx="1828800" cy="228600"/>
          </a:xfrm>
          <a:prstGeom prst="rect">
            <a:avLst/>
          </a:prstGeom>
          <a:noFill/>
        </p:spPr>
        <p:txBody>
          <a:bodyPr wrap="none" lIns="0" rIns="0" tIns="0" bIns="0">
            <a:spAutoFit/>
          </a:bodyPr>
          <a:lstStyle/>
          <a:p>
            <a:pPr algn="r">
              <a:defRPr sz="850">
                <a:solidFill>
                  <a:srgbClr val="475569"/>
                </a:solidFill>
                <a:latin typeface="Arial"/>
              </a:defRPr>
            </a:pPr>
            <a:r>
              <a:t>Slide 7 dari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lIns="0" rIns="0" tIns="0" bIns="0">
            <a:spAutoFit/>
          </a:bodyPr>
          <a:lstStyle/>
          <a:p>
            <a:pPr>
              <a:defRPr sz="950" b="1">
                <a:solidFill>
                  <a:srgbClr val="0077C8"/>
                </a:solidFill>
                <a:latin typeface="Arial"/>
              </a:defRPr>
            </a:pPr>
            <a:r>
              <a:t>HOW TO ACCESS — TATA KELOLA PERAN (ROLE-BASED ACCESS CONTROL)</a:t>
            </a:r>
          </a:p>
        </p:txBody>
      </p:sp>
      <p:sp>
        <p:nvSpPr>
          <p:cNvPr id="3" name="TextBox 2"/>
          <p:cNvSpPr txBox="1"/>
          <p:nvPr/>
        </p:nvSpPr>
        <p:spPr>
          <a:xfrm>
            <a:off x="731520" y="685800"/>
            <a:ext cx="10728655" cy="548640"/>
          </a:xfrm>
          <a:prstGeom prst="rect">
            <a:avLst/>
          </a:prstGeom>
          <a:noFill/>
        </p:spPr>
        <p:txBody>
          <a:bodyPr wrap="square" lIns="0" rIns="0" tIns="0" bIns="0">
            <a:spAutoFit/>
          </a:bodyPr>
          <a:lstStyle/>
          <a:p>
            <a:pPr>
              <a:defRPr sz="1900" b="1">
                <a:solidFill>
                  <a:srgbClr val="0F2042"/>
                </a:solidFill>
                <a:latin typeface="Arial"/>
              </a:defRPr>
            </a:pPr>
            <a:r>
              <a:t>Sistem membagi wewenang ke dalam 4 peran spesifik untuk menjamin prinsip 'Separation of Duties' dan keamanan data.</a:t>
            </a:r>
          </a:p>
        </p:txBody>
      </p:sp>
      <p:sp>
        <p:nvSpPr>
          <p:cNvPr id="4" name="TextBox 3"/>
          <p:cNvSpPr txBox="1"/>
          <p:nvPr/>
        </p:nvSpPr>
        <p:spPr>
          <a:xfrm>
            <a:off x="731520" y="1234440"/>
            <a:ext cx="10728655" cy="320040"/>
          </a:xfrm>
          <a:prstGeom prst="rect">
            <a:avLst/>
          </a:prstGeom>
          <a:noFill/>
        </p:spPr>
        <p:txBody>
          <a:bodyPr wrap="square" lIns="0" rIns="0" tIns="0" bIns="0">
            <a:spAutoFit/>
          </a:bodyPr>
          <a:lstStyle/>
          <a:p>
            <a:pPr>
              <a:defRPr sz="1100">
                <a:solidFill>
                  <a:srgbClr val="475569"/>
                </a:solidFill>
                <a:latin typeface="Arial"/>
              </a:defRPr>
            </a:pPr>
            <a:r>
              <a:t>Setiap pengguna memiliki ruang lingkup fitur yang dirancang khusus sesuai tanggung jawab organisasinya.</a:t>
            </a:r>
          </a:p>
        </p:txBody>
      </p:sp>
      <p:sp>
        <p:nvSpPr>
          <p:cNvPr id="5" name="Rectangle 4"/>
          <p:cNvSpPr/>
          <p:nvPr/>
        </p:nvSpPr>
        <p:spPr>
          <a:xfrm>
            <a:off x="731520" y="157276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2560320" cy="43891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2560320" cy="7772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86000" cy="640080"/>
          </a:xfrm>
          <a:prstGeom prst="rect">
            <a:avLst/>
          </a:prstGeom>
          <a:noFill/>
        </p:spPr>
        <p:txBody>
          <a:bodyPr wrap="square">
            <a:spAutoFit/>
          </a:bodyPr>
          <a:lstStyle/>
          <a:p>
            <a:pPr>
              <a:defRPr sz="1000" b="1">
                <a:solidFill>
                  <a:srgbClr val="FFFFFF"/>
                </a:solidFill>
                <a:latin typeface="Arial"/>
              </a:defRPr>
            </a:pPr>
            <a:r>
              <a:t>DATA REQUESTER</a:t>
            </a:r>
          </a:p>
          <a:p>
            <a:pPr>
              <a:defRPr sz="850">
                <a:solidFill>
                  <a:srgbClr val="E2E8F0"/>
                </a:solidFill>
                <a:latin typeface="Arial"/>
              </a:defRPr>
            </a:pPr>
            <a:r>
              <a:t>Pemohon Unit Operasional / Kebijakan</a:t>
            </a:r>
          </a:p>
        </p:txBody>
      </p:sp>
      <p:sp>
        <p:nvSpPr>
          <p:cNvPr id="9" name="TextBox 8"/>
          <p:cNvSpPr txBox="1"/>
          <p:nvPr/>
        </p:nvSpPr>
        <p:spPr>
          <a:xfrm>
            <a:off x="896112" y="2606040"/>
            <a:ext cx="2231136" cy="3383280"/>
          </a:xfrm>
          <a:prstGeom prst="rect">
            <a:avLst/>
          </a:prstGeom>
          <a:noFill/>
        </p:spPr>
        <p:txBody>
          <a:bodyPr wrap="square" lIns="0" rIns="0" tIns="0" bIns="0">
            <a:spAutoFit/>
          </a:bodyPr>
          <a:lstStyle/>
          <a:p>
            <a:pPr>
              <a:defRPr sz="800" b="1">
                <a:solidFill>
                  <a:srgbClr val="475569"/>
                </a:solidFill>
                <a:latin typeface="Arial"/>
              </a:defRPr>
            </a:pPr>
            <a:r>
              <a:t>PROFIL PENGGUNA:</a:t>
            </a:r>
          </a:p>
          <a:p>
            <a:pPr>
              <a:spcAft>
                <a:spcPts val="800"/>
              </a:spcAft>
              <a:defRPr sz="850">
                <a:solidFill>
                  <a:srgbClr val="1E293B"/>
                </a:solidFill>
                <a:latin typeface="Arial"/>
              </a:defRPr>
            </a:pPr>
            <a:r>
              <a:t>Staf / Pejabat di lingkungan DJBC atau Kementerian Keuangan yang membutuhkan data untuk analisis atau operasional.</a:t>
            </a:r>
          </a:p>
          <a:p>
            <a:pPr>
              <a:spcAft>
                <a:spcPts val="200"/>
              </a:spcAft>
              <a:defRPr sz="800" b="1">
                <a:solidFill>
                  <a:srgbClr val="475569"/>
                </a:solidFill>
                <a:latin typeface="Arial"/>
              </a:defRPr>
            </a:pPr>
            <a:r>
              <a:t>WEWENANG SISTEM:</a:t>
            </a:r>
          </a:p>
          <a:p>
            <a:pPr>
              <a:spcAft>
                <a:spcPts val="300"/>
              </a:spcAft>
              <a:defRPr sz="850">
                <a:solidFill>
                  <a:srgbClr val="1E293B"/>
                </a:solidFill>
                <a:latin typeface="Arial"/>
              </a:defRPr>
            </a:pPr>
            <a:r>
              <a:t>• Eksplorasi Katalog Enterprise OpenMetadata</a:t>
            </a:r>
          </a:p>
          <a:p>
            <a:pPr>
              <a:spcAft>
                <a:spcPts val="300"/>
              </a:spcAft>
              <a:defRPr sz="850">
                <a:solidFill>
                  <a:srgbClr val="1E293B"/>
                </a:solidFill>
                <a:latin typeface="Arial"/>
              </a:defRPr>
            </a:pPr>
            <a:r>
              <a:t>• Penyusunan formulir permohonan data</a:t>
            </a:r>
          </a:p>
          <a:p>
            <a:pPr>
              <a:spcAft>
                <a:spcPts val="300"/>
              </a:spcAft>
              <a:defRPr sz="850">
                <a:solidFill>
                  <a:srgbClr val="1E293B"/>
                </a:solidFill>
                <a:latin typeface="Arial"/>
              </a:defRPr>
            </a:pPr>
            <a:r>
              <a:t>• Pelacakan status tiket di CMS Repositori</a:t>
            </a:r>
          </a:p>
          <a:p>
            <a:pPr>
              <a:spcAft>
                <a:spcPts val="300"/>
              </a:spcAft>
              <a:defRPr sz="850">
                <a:solidFill>
                  <a:srgbClr val="1E293B"/>
                </a:solidFill>
                <a:latin typeface="Arial"/>
              </a:defRPr>
            </a:pPr>
            <a:r>
              <a:t>• Pengunduhan berkas dataset yang telah disetujui</a:t>
            </a:r>
          </a:p>
        </p:txBody>
      </p:sp>
      <p:sp>
        <p:nvSpPr>
          <p:cNvPr id="10" name="Rectangle 9"/>
          <p:cNvSpPr/>
          <p:nvPr/>
        </p:nvSpPr>
        <p:spPr>
          <a:xfrm>
            <a:off x="3474720" y="1737360"/>
            <a:ext cx="2560320" cy="43891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74720" y="1737360"/>
            <a:ext cx="2560320" cy="777240"/>
          </a:xfrm>
          <a:prstGeom prst="rect">
            <a:avLst/>
          </a:prstGeom>
          <a:solidFill>
            <a:srgbClr val="0077C8"/>
          </a:solidFill>
          <a:ln>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10512"/>
            <a:ext cx="2286000" cy="640080"/>
          </a:xfrm>
          <a:prstGeom prst="rect">
            <a:avLst/>
          </a:prstGeom>
          <a:noFill/>
        </p:spPr>
        <p:txBody>
          <a:bodyPr wrap="square">
            <a:spAutoFit/>
          </a:bodyPr>
          <a:lstStyle/>
          <a:p>
            <a:pPr>
              <a:defRPr sz="1000" b="1">
                <a:solidFill>
                  <a:srgbClr val="FFFFFF"/>
                </a:solidFill>
                <a:latin typeface="Arial"/>
              </a:defRPr>
            </a:pPr>
            <a:r>
              <a:t>DATA STEWARD</a:t>
            </a:r>
          </a:p>
          <a:p>
            <a:pPr>
              <a:defRPr sz="850">
                <a:solidFill>
                  <a:srgbClr val="E2E8F0"/>
                </a:solidFill>
                <a:latin typeface="Arial"/>
              </a:defRPr>
            </a:pPr>
            <a:r>
              <a:t>Verifikator Kepatuhan &amp; Tata Kelola</a:t>
            </a:r>
          </a:p>
        </p:txBody>
      </p:sp>
      <p:sp>
        <p:nvSpPr>
          <p:cNvPr id="13" name="TextBox 12"/>
          <p:cNvSpPr txBox="1"/>
          <p:nvPr/>
        </p:nvSpPr>
        <p:spPr>
          <a:xfrm>
            <a:off x="3639312" y="2606040"/>
            <a:ext cx="2231136" cy="3383280"/>
          </a:xfrm>
          <a:prstGeom prst="rect">
            <a:avLst/>
          </a:prstGeom>
          <a:noFill/>
        </p:spPr>
        <p:txBody>
          <a:bodyPr wrap="square" lIns="0" rIns="0" tIns="0" bIns="0">
            <a:spAutoFit/>
          </a:bodyPr>
          <a:lstStyle/>
          <a:p>
            <a:pPr>
              <a:defRPr sz="800" b="1">
                <a:solidFill>
                  <a:srgbClr val="475569"/>
                </a:solidFill>
                <a:latin typeface="Arial"/>
              </a:defRPr>
            </a:pPr>
            <a:r>
              <a:t>PROFIL PENGGUNA:</a:t>
            </a:r>
          </a:p>
          <a:p>
            <a:pPr>
              <a:spcAft>
                <a:spcPts val="800"/>
              </a:spcAft>
              <a:defRPr sz="850">
                <a:solidFill>
                  <a:srgbClr val="1E293B"/>
                </a:solidFill>
                <a:latin typeface="Arial"/>
              </a:defRPr>
            </a:pPr>
            <a:r>
              <a:t>Pejabat fungsional / pengelola data yang berwenang meneliti kelayakan permohonan dan kepatuhan perlindungan data.</a:t>
            </a:r>
          </a:p>
          <a:p>
            <a:pPr>
              <a:spcAft>
                <a:spcPts val="200"/>
              </a:spcAft>
              <a:defRPr sz="800" b="1">
                <a:solidFill>
                  <a:srgbClr val="475569"/>
                </a:solidFill>
                <a:latin typeface="Arial"/>
              </a:defRPr>
            </a:pPr>
            <a:r>
              <a:t>WEWENANG SISTEM:</a:t>
            </a:r>
          </a:p>
          <a:p>
            <a:pPr>
              <a:spcAft>
                <a:spcPts val="300"/>
              </a:spcAft>
              <a:defRPr sz="850">
                <a:solidFill>
                  <a:srgbClr val="1E293B"/>
                </a:solidFill>
                <a:latin typeface="Arial"/>
              </a:defRPr>
            </a:pPr>
            <a:r>
              <a:t>• Verifikasi justifikasi urgensi kedinasan</a:t>
            </a:r>
          </a:p>
          <a:p>
            <a:pPr>
              <a:spcAft>
                <a:spcPts val="300"/>
              </a:spcAft>
              <a:defRPr sz="850">
                <a:solidFill>
                  <a:srgbClr val="1E293B"/>
                </a:solidFill>
                <a:latin typeface="Arial"/>
              </a:defRPr>
            </a:pPr>
            <a:r>
              <a:t>• Audit kepatuhan PDP dan peninjauan masking</a:t>
            </a:r>
          </a:p>
          <a:p>
            <a:pPr>
              <a:spcAft>
                <a:spcPts val="300"/>
              </a:spcAft>
              <a:defRPr sz="850">
                <a:solidFill>
                  <a:srgbClr val="1E293B"/>
                </a:solidFill>
                <a:latin typeface="Arial"/>
              </a:defRPr>
            </a:pPr>
            <a:r>
              <a:t>• Penandatanganan digital persetujuan / penolakan</a:t>
            </a:r>
          </a:p>
          <a:p>
            <a:pPr>
              <a:spcAft>
                <a:spcPts val="300"/>
              </a:spcAft>
              <a:defRPr sz="850">
                <a:solidFill>
                  <a:srgbClr val="1E293B"/>
                </a:solidFill>
                <a:latin typeface="Arial"/>
              </a:defRPr>
            </a:pPr>
            <a:r>
              <a:t>• Pemberian catatan revisi resmi kepada pemohon</a:t>
            </a:r>
          </a:p>
        </p:txBody>
      </p:sp>
      <p:sp>
        <p:nvSpPr>
          <p:cNvPr id="14" name="Rectangle 13"/>
          <p:cNvSpPr/>
          <p:nvPr/>
        </p:nvSpPr>
        <p:spPr>
          <a:xfrm>
            <a:off x="6217920" y="1737360"/>
            <a:ext cx="2560320" cy="43891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737360"/>
            <a:ext cx="2560320" cy="77724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810512"/>
            <a:ext cx="2286000" cy="640080"/>
          </a:xfrm>
          <a:prstGeom prst="rect">
            <a:avLst/>
          </a:prstGeom>
          <a:noFill/>
        </p:spPr>
        <p:txBody>
          <a:bodyPr wrap="square">
            <a:spAutoFit/>
          </a:bodyPr>
          <a:lstStyle/>
          <a:p>
            <a:pPr>
              <a:defRPr sz="1000" b="1">
                <a:solidFill>
                  <a:srgbClr val="FFFFFF"/>
                </a:solidFill>
                <a:latin typeface="Arial"/>
              </a:defRPr>
            </a:pPr>
            <a:r>
              <a:t>DATA ANALYST</a:t>
            </a:r>
          </a:p>
          <a:p>
            <a:pPr>
              <a:defRPr sz="850">
                <a:solidFill>
                  <a:srgbClr val="E2E8F0"/>
                </a:solidFill>
                <a:latin typeface="Arial"/>
              </a:defRPr>
            </a:pPr>
            <a:r>
              <a:t>Penyusun Model Data &amp; Analitik</a:t>
            </a:r>
          </a:p>
        </p:txBody>
      </p:sp>
      <p:sp>
        <p:nvSpPr>
          <p:cNvPr id="17" name="TextBox 16"/>
          <p:cNvSpPr txBox="1"/>
          <p:nvPr/>
        </p:nvSpPr>
        <p:spPr>
          <a:xfrm>
            <a:off x="6382512" y="2606040"/>
            <a:ext cx="2231136" cy="3383280"/>
          </a:xfrm>
          <a:prstGeom prst="rect">
            <a:avLst/>
          </a:prstGeom>
          <a:noFill/>
        </p:spPr>
        <p:txBody>
          <a:bodyPr wrap="square" lIns="0" rIns="0" tIns="0" bIns="0">
            <a:spAutoFit/>
          </a:bodyPr>
          <a:lstStyle/>
          <a:p>
            <a:pPr>
              <a:defRPr sz="800" b="1">
                <a:solidFill>
                  <a:srgbClr val="475569"/>
                </a:solidFill>
                <a:latin typeface="Arial"/>
              </a:defRPr>
            </a:pPr>
            <a:r>
              <a:t>PROFIL PENGGUNA:</a:t>
            </a:r>
          </a:p>
          <a:p>
            <a:pPr>
              <a:spcAft>
                <a:spcPts val="800"/>
              </a:spcAft>
              <a:defRPr sz="850">
                <a:solidFill>
                  <a:srgbClr val="1E293B"/>
                </a:solidFill>
                <a:latin typeface="Arial"/>
              </a:defRPr>
            </a:pPr>
            <a:r>
              <a:t>Analis data dan riset makro yang memvalidasi logika agregasi dan relevansi data mart yang diminta.</a:t>
            </a:r>
          </a:p>
          <a:p>
            <a:pPr>
              <a:spcAft>
                <a:spcPts val="200"/>
              </a:spcAft>
              <a:defRPr sz="800" b="1">
                <a:solidFill>
                  <a:srgbClr val="475569"/>
                </a:solidFill>
                <a:latin typeface="Arial"/>
              </a:defRPr>
            </a:pPr>
            <a:r>
              <a:t>WEWENANG SISTEM:</a:t>
            </a:r>
          </a:p>
          <a:p>
            <a:pPr>
              <a:spcAft>
                <a:spcPts val="300"/>
              </a:spcAft>
              <a:defRPr sz="850">
                <a:solidFill>
                  <a:srgbClr val="1E293B"/>
                </a:solidFill>
                <a:latin typeface="Arial"/>
              </a:defRPr>
            </a:pPr>
            <a:r>
              <a:t>• Validasi sintaks SQL dan skema agregasi</a:t>
            </a:r>
          </a:p>
          <a:p>
            <a:pPr>
              <a:spcAft>
                <a:spcPts val="300"/>
              </a:spcAft>
              <a:defRPr sz="850">
                <a:solidFill>
                  <a:srgbClr val="1E293B"/>
                </a:solidFill>
                <a:latin typeface="Arial"/>
              </a:defRPr>
            </a:pPr>
            <a:r>
              <a:t>• Pengujian konsistensi logika antar tabel</a:t>
            </a:r>
          </a:p>
          <a:p>
            <a:pPr>
              <a:spcAft>
                <a:spcPts val="300"/>
              </a:spcAft>
              <a:defRPr sz="850">
                <a:solidFill>
                  <a:srgbClr val="1E293B"/>
                </a:solidFill>
                <a:latin typeface="Arial"/>
              </a:defRPr>
            </a:pPr>
            <a:r>
              <a:t>• Penyusunan data mart analitis terstandarisasi</a:t>
            </a:r>
          </a:p>
          <a:p>
            <a:pPr>
              <a:spcAft>
                <a:spcPts val="300"/>
              </a:spcAft>
              <a:defRPr sz="850">
                <a:solidFill>
                  <a:srgbClr val="1E293B"/>
                </a:solidFill>
                <a:latin typeface="Arial"/>
              </a:defRPr>
            </a:pPr>
            <a:r>
              <a:t>• Optimalisasi dimensi dan metrik pelaporan</a:t>
            </a:r>
          </a:p>
        </p:txBody>
      </p:sp>
      <p:sp>
        <p:nvSpPr>
          <p:cNvPr id="18" name="Rectangle 17"/>
          <p:cNvSpPr/>
          <p:nvPr/>
        </p:nvSpPr>
        <p:spPr>
          <a:xfrm>
            <a:off x="8961120" y="1737360"/>
            <a:ext cx="2560320" cy="43891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0" y="1737360"/>
            <a:ext cx="2560320" cy="777240"/>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1810512"/>
            <a:ext cx="2286000" cy="640080"/>
          </a:xfrm>
          <a:prstGeom prst="rect">
            <a:avLst/>
          </a:prstGeom>
          <a:noFill/>
        </p:spPr>
        <p:txBody>
          <a:bodyPr wrap="square">
            <a:spAutoFit/>
          </a:bodyPr>
          <a:lstStyle/>
          <a:p>
            <a:pPr>
              <a:defRPr sz="1000" b="1">
                <a:solidFill>
                  <a:srgbClr val="FFFFFF"/>
                </a:solidFill>
                <a:latin typeface="Arial"/>
              </a:defRPr>
            </a:pPr>
            <a:r>
              <a:t>DATA ENGINEER</a:t>
            </a:r>
          </a:p>
          <a:p>
            <a:pPr>
              <a:defRPr sz="850">
                <a:solidFill>
                  <a:srgbClr val="E2E8F0"/>
                </a:solidFill>
                <a:latin typeface="Arial"/>
              </a:defRPr>
            </a:pPr>
            <a:r>
              <a:t>Infrastruktur &amp; Pipeline Data Warehouse</a:t>
            </a:r>
          </a:p>
        </p:txBody>
      </p:sp>
      <p:sp>
        <p:nvSpPr>
          <p:cNvPr id="21" name="TextBox 20"/>
          <p:cNvSpPr txBox="1"/>
          <p:nvPr/>
        </p:nvSpPr>
        <p:spPr>
          <a:xfrm>
            <a:off x="9125712" y="2606040"/>
            <a:ext cx="2231136" cy="3383280"/>
          </a:xfrm>
          <a:prstGeom prst="rect">
            <a:avLst/>
          </a:prstGeom>
          <a:noFill/>
        </p:spPr>
        <p:txBody>
          <a:bodyPr wrap="square" lIns="0" rIns="0" tIns="0" bIns="0">
            <a:spAutoFit/>
          </a:bodyPr>
          <a:lstStyle/>
          <a:p>
            <a:pPr>
              <a:defRPr sz="800" b="1">
                <a:solidFill>
                  <a:srgbClr val="475569"/>
                </a:solidFill>
                <a:latin typeface="Arial"/>
              </a:defRPr>
            </a:pPr>
            <a:r>
              <a:t>PROFIL PENGGUNA:</a:t>
            </a:r>
          </a:p>
          <a:p>
            <a:pPr>
              <a:spcAft>
                <a:spcPts val="800"/>
              </a:spcAft>
              <a:defRPr sz="850">
                <a:solidFill>
                  <a:srgbClr val="1E293B"/>
                </a:solidFill>
                <a:latin typeface="Arial"/>
              </a:defRPr>
            </a:pPr>
            <a:r>
              <a:t>Pengelola teknis basis data CEISA DWH yang memelihara kinerja server, kamus data, dan konektivitas database.</a:t>
            </a:r>
          </a:p>
          <a:p>
            <a:pPr>
              <a:spcAft>
                <a:spcPts val="200"/>
              </a:spcAft>
              <a:defRPr sz="800" b="1">
                <a:solidFill>
                  <a:srgbClr val="475569"/>
                </a:solidFill>
                <a:latin typeface="Arial"/>
              </a:defRPr>
            </a:pPr>
            <a:r>
              <a:t>WEWENANG SISTEM:</a:t>
            </a:r>
          </a:p>
          <a:p>
            <a:pPr>
              <a:spcAft>
                <a:spcPts val="300"/>
              </a:spcAft>
              <a:defRPr sz="850">
                <a:solidFill>
                  <a:srgbClr val="1E293B"/>
                </a:solidFill>
                <a:latin typeface="Arial"/>
              </a:defRPr>
            </a:pPr>
            <a:r>
              <a:t>• Sinkronisasi skema OpenMetadata dengan DWH fisik</a:t>
            </a:r>
          </a:p>
          <a:p>
            <a:pPr>
              <a:spcAft>
                <a:spcPts val="300"/>
              </a:spcAft>
              <a:defRPr sz="850">
                <a:solidFill>
                  <a:srgbClr val="1E293B"/>
                </a:solidFill>
                <a:latin typeface="Arial"/>
              </a:defRPr>
            </a:pPr>
            <a:r>
              <a:t>• Monitoring performa eksekusi kueri dan latensi</a:t>
            </a:r>
          </a:p>
          <a:p>
            <a:pPr>
              <a:spcAft>
                <a:spcPts val="300"/>
              </a:spcAft>
              <a:defRPr sz="850">
                <a:solidFill>
                  <a:srgbClr val="1E293B"/>
                </a:solidFill>
                <a:latin typeface="Arial"/>
              </a:defRPr>
            </a:pPr>
            <a:r>
              <a:t>• Pemeliharaan indeks tabel dan partisi data</a:t>
            </a:r>
          </a:p>
          <a:p>
            <a:pPr>
              <a:spcAft>
                <a:spcPts val="300"/>
              </a:spcAft>
              <a:defRPr sz="850">
                <a:solidFill>
                  <a:srgbClr val="1E293B"/>
                </a:solidFill>
                <a:latin typeface="Arial"/>
              </a:defRPr>
            </a:pPr>
            <a:r>
              <a:t>• Audit keamanan konektivitas multi-dialek</a:t>
            </a:r>
          </a:p>
        </p:txBody>
      </p:sp>
      <p:sp>
        <p:nvSpPr>
          <p:cNvPr id="22" name="TextBox 21"/>
          <p:cNvSpPr txBox="1"/>
          <p:nvPr/>
        </p:nvSpPr>
        <p:spPr>
          <a:xfrm>
            <a:off x="731520" y="6446520"/>
            <a:ext cx="5486400" cy="228600"/>
          </a:xfrm>
          <a:prstGeom prst="rect">
            <a:avLst/>
          </a:prstGeom>
          <a:noFill/>
        </p:spPr>
        <p:txBody>
          <a:bodyPr wrap="none" lIns="0" rIns="0" tIns="0" bIns="0">
            <a:spAutoFit/>
          </a:bodyPr>
          <a:lstStyle/>
          <a:p>
            <a:pPr>
              <a:defRPr sz="850">
                <a:solidFill>
                  <a:srgbClr val="475569"/>
                </a:solidFill>
                <a:latin typeface="Arial"/>
              </a:defRPr>
            </a:pPr>
            <a:r>
              <a:t>DataRequestStudio | Transformasi Tata Kelola Data CEISA Data Warehouse</a:t>
            </a:r>
          </a:p>
        </p:txBody>
      </p:sp>
      <p:sp>
        <p:nvSpPr>
          <p:cNvPr id="23" name="TextBox 22"/>
          <p:cNvSpPr txBox="1"/>
          <p:nvPr/>
        </p:nvSpPr>
        <p:spPr>
          <a:xfrm>
            <a:off x="4572000" y="6446520"/>
            <a:ext cx="3047695" cy="228600"/>
          </a:xfrm>
          <a:prstGeom prst="rect">
            <a:avLst/>
          </a:prstGeom>
          <a:noFill/>
        </p:spPr>
        <p:txBody>
          <a:bodyPr wrap="none" lIns="0" rIns="0" tIns="0" bIns="0">
            <a:spAutoFit/>
          </a:bodyPr>
          <a:lstStyle/>
          <a:p>
            <a:pPr algn="ctr">
              <a:defRPr sz="850">
                <a:solidFill>
                  <a:srgbClr val="475569"/>
                </a:solidFill>
                <a:latin typeface="Arial"/>
              </a:defRPr>
            </a:pPr>
            <a:r>
              <a:t>Klasifikasi: Terbatas / Khusus DJBC &amp; Kemenkeu</a:t>
            </a:r>
          </a:p>
        </p:txBody>
      </p:sp>
      <p:sp>
        <p:nvSpPr>
          <p:cNvPr id="24" name="TextBox 23"/>
          <p:cNvSpPr txBox="1"/>
          <p:nvPr/>
        </p:nvSpPr>
        <p:spPr>
          <a:xfrm>
            <a:off x="9631375" y="6446520"/>
            <a:ext cx="1828800" cy="228600"/>
          </a:xfrm>
          <a:prstGeom prst="rect">
            <a:avLst/>
          </a:prstGeom>
          <a:noFill/>
        </p:spPr>
        <p:txBody>
          <a:bodyPr wrap="none" lIns="0" rIns="0" tIns="0" bIns="0">
            <a:spAutoFit/>
          </a:bodyPr>
          <a:lstStyle/>
          <a:p>
            <a:pPr algn="r">
              <a:defRPr sz="850">
                <a:solidFill>
                  <a:srgbClr val="475569"/>
                </a:solidFill>
                <a:latin typeface="Arial"/>
              </a:defRPr>
            </a:pPr>
            <a:r>
              <a:t>Slide 8 dari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lIns="0" rIns="0" tIns="0" bIns="0">
            <a:spAutoFit/>
          </a:bodyPr>
          <a:lstStyle/>
          <a:p>
            <a:pPr>
              <a:defRPr sz="950" b="1">
                <a:solidFill>
                  <a:srgbClr val="0077C8"/>
                </a:solidFill>
                <a:latin typeface="Arial"/>
              </a:defRPr>
            </a:pPr>
            <a:r>
              <a:t>HOW TO ACCESS — TITIK AKSES, PRASYARAT, &amp; DUKUNGAN TEKNIS</a:t>
            </a:r>
          </a:p>
        </p:txBody>
      </p:sp>
      <p:sp>
        <p:nvSpPr>
          <p:cNvPr id="3" name="TextBox 2"/>
          <p:cNvSpPr txBox="1"/>
          <p:nvPr/>
        </p:nvSpPr>
        <p:spPr>
          <a:xfrm>
            <a:off x="731520" y="685800"/>
            <a:ext cx="10728655" cy="548640"/>
          </a:xfrm>
          <a:prstGeom prst="rect">
            <a:avLst/>
          </a:prstGeom>
          <a:noFill/>
        </p:spPr>
        <p:txBody>
          <a:bodyPr wrap="square" lIns="0" rIns="0" tIns="0" bIns="0">
            <a:spAutoFit/>
          </a:bodyPr>
          <a:lstStyle/>
          <a:p>
            <a:pPr>
              <a:defRPr sz="1900" b="1">
                <a:solidFill>
                  <a:srgbClr val="0F2042"/>
                </a:solidFill>
                <a:latin typeface="Arial"/>
              </a:defRPr>
            </a:pPr>
            <a:r>
              <a:t>Akses platform kini terbuka melalui portal resmi DataRequestStudio dengan panduan operasional terintegrasi.</a:t>
            </a:r>
          </a:p>
        </p:txBody>
      </p:sp>
      <p:sp>
        <p:nvSpPr>
          <p:cNvPr id="4" name="TextBox 3"/>
          <p:cNvSpPr txBox="1"/>
          <p:nvPr/>
        </p:nvSpPr>
        <p:spPr>
          <a:xfrm>
            <a:off x="731520" y="1234440"/>
            <a:ext cx="10728655" cy="320040"/>
          </a:xfrm>
          <a:prstGeom prst="rect">
            <a:avLst/>
          </a:prstGeom>
          <a:noFill/>
        </p:spPr>
        <p:txBody>
          <a:bodyPr wrap="square" lIns="0" rIns="0" tIns="0" bIns="0">
            <a:spAutoFit/>
          </a:bodyPr>
          <a:lstStyle/>
          <a:p>
            <a:pPr>
              <a:defRPr sz="1100">
                <a:solidFill>
                  <a:srgbClr val="475569"/>
                </a:solidFill>
                <a:latin typeface="Arial"/>
              </a:defRPr>
            </a:pPr>
            <a:r>
              <a:t>Informasi detail mengenai tautan sistem, prasyarat hak akses, dan kanal bantuan pengguna resmi.</a:t>
            </a:r>
          </a:p>
        </p:txBody>
      </p:sp>
      <p:sp>
        <p:nvSpPr>
          <p:cNvPr id="5" name="Rectangle 4"/>
          <p:cNvSpPr/>
          <p:nvPr/>
        </p:nvSpPr>
        <p:spPr>
          <a:xfrm>
            <a:off x="731520" y="157276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383280" cy="43891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383280" cy="777240"/>
          </a:xfrm>
          <a:prstGeom prst="rect">
            <a:avLst/>
          </a:prstGeom>
          <a:solidFill>
            <a:srgbClr val="0077C8"/>
          </a:solidFill>
          <a:ln>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10512"/>
            <a:ext cx="3054096" cy="640080"/>
          </a:xfrm>
          <a:prstGeom prst="rect">
            <a:avLst/>
          </a:prstGeom>
          <a:noFill/>
        </p:spPr>
        <p:txBody>
          <a:bodyPr wrap="square">
            <a:spAutoFit/>
          </a:bodyPr>
          <a:lstStyle/>
          <a:p>
            <a:pPr>
              <a:defRPr sz="950" b="1">
                <a:solidFill>
                  <a:srgbClr val="FFFFFF"/>
                </a:solidFill>
                <a:latin typeface="Arial"/>
              </a:defRPr>
            </a:pPr>
            <a:r>
              <a:t>1. TITIK AKSES &amp; TAUTAN PORTAL</a:t>
            </a:r>
          </a:p>
          <a:p>
            <a:pPr>
              <a:defRPr sz="850">
                <a:solidFill>
                  <a:srgbClr val="E2E8F0"/>
                </a:solidFill>
                <a:latin typeface="Arial"/>
              </a:defRPr>
            </a:pPr>
            <a:r>
              <a:t>Alamat Portal Resmi &amp; Lingkungan</a:t>
            </a:r>
          </a:p>
        </p:txBody>
      </p:sp>
      <p:sp>
        <p:nvSpPr>
          <p:cNvPr id="9" name="TextBox 8"/>
          <p:cNvSpPr txBox="1"/>
          <p:nvPr/>
        </p:nvSpPr>
        <p:spPr>
          <a:xfrm>
            <a:off x="896112" y="2651760"/>
            <a:ext cx="3054096" cy="3291840"/>
          </a:xfrm>
          <a:prstGeom prst="rect">
            <a:avLst/>
          </a:prstGeom>
          <a:noFill/>
        </p:spPr>
        <p:txBody>
          <a:bodyPr wrap="square" lIns="0" rIns="0" tIns="0" bIns="0">
            <a:spAutoFit/>
          </a:bodyPr>
          <a:lstStyle/>
          <a:p>
            <a:pPr>
              <a:defRPr sz="800" b="1">
                <a:solidFill>
                  <a:srgbClr val="0077C8"/>
                </a:solidFill>
                <a:latin typeface="Arial"/>
              </a:defRPr>
            </a:pPr>
            <a:r>
              <a:t>PORTAL PUBLIK / WEB DEMO</a:t>
            </a:r>
          </a:p>
          <a:p>
            <a:pPr>
              <a:spcBef>
                <a:spcPts val="100"/>
              </a:spcBef>
              <a:defRPr sz="950">
                <a:solidFill>
                  <a:srgbClr val="1E293B"/>
                </a:solidFill>
                <a:latin typeface="Arial"/>
              </a:defRPr>
            </a:pPr>
            <a:r>
              <a:t>https://datalabs89.github.io/DataRequestStudio/</a:t>
            </a:r>
          </a:p>
          <a:p>
            <a:pPr>
              <a:spcBef>
                <a:spcPts val="800"/>
              </a:spcBef>
              <a:defRPr sz="800" b="1">
                <a:solidFill>
                  <a:srgbClr val="0077C8"/>
                </a:solidFill>
                <a:latin typeface="Arial"/>
              </a:defRPr>
            </a:pPr>
            <a:r>
              <a:t>PORTAL INTRANET DJBC (PRODUKSI)</a:t>
            </a:r>
          </a:p>
          <a:p>
            <a:pPr>
              <a:spcBef>
                <a:spcPts val="100"/>
              </a:spcBef>
              <a:defRPr sz="950">
                <a:solidFill>
                  <a:srgbClr val="1E293B"/>
                </a:solidFill>
                <a:latin typeface="Arial"/>
              </a:defRPr>
            </a:pPr>
            <a:r>
              <a:t>https://datarequest.customs.go.id (Jaringan Kemenkeu)</a:t>
            </a:r>
          </a:p>
          <a:p>
            <a:pPr>
              <a:spcBef>
                <a:spcPts val="800"/>
              </a:spcBef>
              <a:defRPr sz="800" b="1">
                <a:solidFill>
                  <a:srgbClr val="0077C8"/>
                </a:solidFill>
                <a:latin typeface="Arial"/>
              </a:defRPr>
            </a:pPr>
            <a:r>
              <a:t>PERAMBAN YANG DIDUKUNG</a:t>
            </a:r>
          </a:p>
          <a:p>
            <a:pPr>
              <a:spcBef>
                <a:spcPts val="100"/>
              </a:spcBef>
              <a:defRPr sz="950">
                <a:solidFill>
                  <a:srgbClr val="1E293B"/>
                </a:solidFill>
                <a:latin typeface="Arial"/>
              </a:defRPr>
            </a:pPr>
            <a:r>
              <a:t>Google Chrome, Microsoft Edge, Mozilla Firefox (Modern)</a:t>
            </a:r>
          </a:p>
          <a:p>
            <a:pPr>
              <a:spcBef>
                <a:spcPts val="800"/>
              </a:spcBef>
              <a:defRPr sz="800" b="1">
                <a:solidFill>
                  <a:srgbClr val="0077C8"/>
                </a:solidFill>
                <a:latin typeface="Arial"/>
              </a:defRPr>
            </a:pPr>
            <a:r>
              <a:t>DUKUNGAN ANTARMUKA</a:t>
            </a:r>
          </a:p>
          <a:p>
            <a:pPr>
              <a:spcBef>
                <a:spcPts val="100"/>
              </a:spcBef>
              <a:defRPr sz="950">
                <a:solidFill>
                  <a:srgbClr val="1E293B"/>
                </a:solidFill>
                <a:latin typeface="Arial"/>
              </a:defRPr>
            </a:pPr>
            <a:r>
              <a:t>Responsif Desktop, Laptop Kantor, &amp; Tablet Inspeksi</a:t>
            </a:r>
          </a:p>
        </p:txBody>
      </p:sp>
      <p:sp>
        <p:nvSpPr>
          <p:cNvPr id="10" name="Rectangle 9"/>
          <p:cNvSpPr/>
          <p:nvPr/>
        </p:nvSpPr>
        <p:spPr>
          <a:xfrm>
            <a:off x="4389120" y="1737360"/>
            <a:ext cx="3383280" cy="43891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737360"/>
            <a:ext cx="3383280" cy="77724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810512"/>
            <a:ext cx="3054096" cy="640080"/>
          </a:xfrm>
          <a:prstGeom prst="rect">
            <a:avLst/>
          </a:prstGeom>
          <a:noFill/>
        </p:spPr>
        <p:txBody>
          <a:bodyPr wrap="square">
            <a:spAutoFit/>
          </a:bodyPr>
          <a:lstStyle/>
          <a:p>
            <a:pPr>
              <a:defRPr sz="950" b="1">
                <a:solidFill>
                  <a:srgbClr val="FFFFFF"/>
                </a:solidFill>
                <a:latin typeface="Arial"/>
              </a:defRPr>
            </a:pPr>
            <a:r>
              <a:t>2. PRASYARAT &amp; KELENGKAPAN AKSES</a:t>
            </a:r>
          </a:p>
          <a:p>
            <a:pPr>
              <a:defRPr sz="850">
                <a:solidFill>
                  <a:srgbClr val="E2E8F0"/>
                </a:solidFill>
                <a:latin typeface="Arial"/>
              </a:defRPr>
            </a:pPr>
            <a:r>
              <a:t>Standar Administrasi Pengguna</a:t>
            </a:r>
          </a:p>
        </p:txBody>
      </p:sp>
      <p:sp>
        <p:nvSpPr>
          <p:cNvPr id="13" name="TextBox 12"/>
          <p:cNvSpPr txBox="1"/>
          <p:nvPr/>
        </p:nvSpPr>
        <p:spPr>
          <a:xfrm>
            <a:off x="4553712" y="2651760"/>
            <a:ext cx="3054096" cy="3291840"/>
          </a:xfrm>
          <a:prstGeom prst="rect">
            <a:avLst/>
          </a:prstGeom>
          <a:noFill/>
        </p:spPr>
        <p:txBody>
          <a:bodyPr wrap="square" lIns="0" rIns="0" tIns="0" bIns="0">
            <a:spAutoFit/>
          </a:bodyPr>
          <a:lstStyle/>
          <a:p>
            <a:pPr>
              <a:defRPr sz="800" b="1">
                <a:solidFill>
                  <a:srgbClr val="0F2042"/>
                </a:solidFill>
                <a:latin typeface="Arial"/>
              </a:defRPr>
            </a:pPr>
            <a:r>
              <a:t>OTENTIKASI AKUN</a:t>
            </a:r>
          </a:p>
          <a:p>
            <a:pPr>
              <a:spcBef>
                <a:spcPts val="100"/>
              </a:spcBef>
              <a:defRPr sz="950">
                <a:solidFill>
                  <a:srgbClr val="1E293B"/>
                </a:solidFill>
                <a:latin typeface="Arial"/>
              </a:defRPr>
            </a:pPr>
            <a:r>
              <a:t>Akun Kemenkeu ID / SSO Aktif</a:t>
            </a:r>
          </a:p>
          <a:p>
            <a:pPr>
              <a:spcBef>
                <a:spcPts val="800"/>
              </a:spcBef>
              <a:defRPr sz="800" b="1">
                <a:solidFill>
                  <a:srgbClr val="0F2042"/>
                </a:solidFill>
                <a:latin typeface="Arial"/>
              </a:defRPr>
            </a:pPr>
            <a:r>
              <a:t>JUSTIFIKASI KEDINASAN</a:t>
            </a:r>
          </a:p>
          <a:p>
            <a:pPr>
              <a:spcBef>
                <a:spcPts val="100"/>
              </a:spcBef>
              <a:defRPr sz="950">
                <a:solidFill>
                  <a:srgbClr val="1E293B"/>
                </a:solidFill>
                <a:latin typeface="Arial"/>
              </a:defRPr>
            </a:pPr>
            <a:r>
              <a:t>Surat Perintah / Nota Dinas Kebutuhan Data</a:t>
            </a:r>
          </a:p>
          <a:p>
            <a:pPr>
              <a:spcBef>
                <a:spcPts val="800"/>
              </a:spcBef>
              <a:defRPr sz="800" b="1">
                <a:solidFill>
                  <a:srgbClr val="0F2042"/>
                </a:solidFill>
                <a:latin typeface="Arial"/>
              </a:defRPr>
            </a:pPr>
            <a:r>
              <a:t>PENETAPAN PERAN (ROLE)</a:t>
            </a:r>
          </a:p>
          <a:p>
            <a:pPr>
              <a:spcBef>
                <a:spcPts val="100"/>
              </a:spcBef>
              <a:defRPr sz="950">
                <a:solidFill>
                  <a:srgbClr val="1E293B"/>
                </a:solidFill>
                <a:latin typeface="Arial"/>
              </a:defRPr>
            </a:pPr>
            <a:r>
              <a:t>Pengajuan hak akses ke Data Steward Unit bersangkutan</a:t>
            </a:r>
          </a:p>
          <a:p>
            <a:pPr>
              <a:spcBef>
                <a:spcPts val="800"/>
              </a:spcBef>
              <a:defRPr sz="800" b="1">
                <a:solidFill>
                  <a:srgbClr val="0F2042"/>
                </a:solidFill>
                <a:latin typeface="Arial"/>
              </a:defRPr>
            </a:pPr>
            <a:r>
              <a:t>KEPATUHAN TATA KELOLA</a:t>
            </a:r>
          </a:p>
          <a:p>
            <a:pPr>
              <a:spcBef>
                <a:spcPts val="100"/>
              </a:spcBef>
              <a:defRPr sz="950">
                <a:solidFill>
                  <a:srgbClr val="1E293B"/>
                </a:solidFill>
                <a:latin typeface="Arial"/>
              </a:defRPr>
            </a:pPr>
            <a:r>
              <a:t>Menandatangani Pakta Integritas Perlindungan Data Pribadi</a:t>
            </a:r>
          </a:p>
        </p:txBody>
      </p:sp>
      <p:sp>
        <p:nvSpPr>
          <p:cNvPr id="14" name="Rectangle 13"/>
          <p:cNvSpPr/>
          <p:nvPr/>
        </p:nvSpPr>
        <p:spPr>
          <a:xfrm>
            <a:off x="8046720" y="1737360"/>
            <a:ext cx="3383280" cy="43891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737360"/>
            <a:ext cx="3383280" cy="777240"/>
          </a:xfrm>
          <a:prstGeom prst="rect">
            <a:avLst/>
          </a:prstGeom>
          <a:solidFill>
            <a:srgbClr val="109577"/>
          </a:solidFill>
          <a:ln>
            <a:solidFill>
              <a:srgbClr val="109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1810512"/>
            <a:ext cx="3054096" cy="640080"/>
          </a:xfrm>
          <a:prstGeom prst="rect">
            <a:avLst/>
          </a:prstGeom>
          <a:noFill/>
        </p:spPr>
        <p:txBody>
          <a:bodyPr wrap="square">
            <a:spAutoFit/>
          </a:bodyPr>
          <a:lstStyle/>
          <a:p>
            <a:pPr>
              <a:defRPr sz="950" b="1">
                <a:solidFill>
                  <a:srgbClr val="FFFFFF"/>
                </a:solidFill>
                <a:latin typeface="Arial"/>
              </a:defRPr>
            </a:pPr>
            <a:r>
              <a:t>3. LAYANAN BANTUAN &amp; ASISTENSI</a:t>
            </a:r>
          </a:p>
          <a:p>
            <a:pPr>
              <a:defRPr sz="850">
                <a:solidFill>
                  <a:srgbClr val="E2E8F0"/>
                </a:solidFill>
                <a:latin typeface="Arial"/>
              </a:defRPr>
            </a:pPr>
            <a:r>
              <a:t>Kanal Dukungan Operasional</a:t>
            </a:r>
          </a:p>
        </p:txBody>
      </p:sp>
      <p:sp>
        <p:nvSpPr>
          <p:cNvPr id="17" name="TextBox 16"/>
          <p:cNvSpPr txBox="1"/>
          <p:nvPr/>
        </p:nvSpPr>
        <p:spPr>
          <a:xfrm>
            <a:off x="8211312" y="2651760"/>
            <a:ext cx="3054096" cy="3291840"/>
          </a:xfrm>
          <a:prstGeom prst="rect">
            <a:avLst/>
          </a:prstGeom>
          <a:noFill/>
        </p:spPr>
        <p:txBody>
          <a:bodyPr wrap="square" lIns="0" rIns="0" tIns="0" bIns="0">
            <a:spAutoFit/>
          </a:bodyPr>
          <a:lstStyle/>
          <a:p>
            <a:pPr>
              <a:defRPr sz="800" b="1">
                <a:solidFill>
                  <a:srgbClr val="109577"/>
                </a:solidFill>
                <a:latin typeface="Arial"/>
              </a:defRPr>
            </a:pPr>
            <a:r>
              <a:t>UNIT PENGELOLA UTAMA</a:t>
            </a:r>
          </a:p>
          <a:p>
            <a:pPr>
              <a:spcBef>
                <a:spcPts val="100"/>
              </a:spcBef>
              <a:defRPr sz="950">
                <a:solidFill>
                  <a:srgbClr val="1E293B"/>
                </a:solidFill>
                <a:latin typeface="Arial"/>
              </a:defRPr>
            </a:pPr>
            <a:r>
              <a:t>Subdirektorat Pengelolaan Data &amp; DWH, Dit. IKC DJBC</a:t>
            </a:r>
          </a:p>
          <a:p>
            <a:pPr>
              <a:spcBef>
                <a:spcPts val="800"/>
              </a:spcBef>
              <a:defRPr sz="800" b="1">
                <a:solidFill>
                  <a:srgbClr val="109577"/>
                </a:solidFill>
                <a:latin typeface="Arial"/>
              </a:defRPr>
            </a:pPr>
            <a:r>
              <a:t>SERVICE DESK KHUSUS</a:t>
            </a:r>
          </a:p>
          <a:p>
            <a:pPr>
              <a:spcBef>
                <a:spcPts val="100"/>
              </a:spcBef>
              <a:defRPr sz="950">
                <a:solidFill>
                  <a:srgbClr val="1E293B"/>
                </a:solidFill>
                <a:latin typeface="Arial"/>
              </a:defRPr>
            </a:pPr>
            <a:r>
              <a:t>Email: data.steward@customs.go.id</a:t>
            </a:r>
          </a:p>
          <a:p>
            <a:pPr>
              <a:spcBef>
                <a:spcPts val="800"/>
              </a:spcBef>
              <a:defRPr sz="800" b="1">
                <a:solidFill>
                  <a:srgbClr val="109577"/>
                </a:solidFill>
                <a:latin typeface="Arial"/>
              </a:defRPr>
            </a:pPr>
            <a:r>
              <a:t>HELPDESK TIKET INTERNAL</a:t>
            </a:r>
          </a:p>
          <a:p>
            <a:pPr>
              <a:spcBef>
                <a:spcPts val="100"/>
              </a:spcBef>
              <a:defRPr sz="950">
                <a:solidFill>
                  <a:srgbClr val="1E293B"/>
                </a:solidFill>
                <a:latin typeface="Arial"/>
              </a:defRPr>
            </a:pPr>
            <a:r>
              <a:t>Portal Service Desk Kemenkeu (Kategori: CEISA DWH)</a:t>
            </a:r>
          </a:p>
          <a:p>
            <a:pPr>
              <a:spcBef>
                <a:spcPts val="800"/>
              </a:spcBef>
              <a:defRPr sz="800" b="1">
                <a:solidFill>
                  <a:srgbClr val="109577"/>
                </a:solidFill>
                <a:latin typeface="Arial"/>
              </a:defRPr>
            </a:pPr>
            <a:r>
              <a:t>SLA RESPON BANTUAN</a:t>
            </a:r>
          </a:p>
          <a:p>
            <a:pPr>
              <a:spcBef>
                <a:spcPts val="100"/>
              </a:spcBef>
              <a:defRPr sz="950">
                <a:solidFill>
                  <a:srgbClr val="1E293B"/>
                </a:solidFill>
                <a:latin typeface="Arial"/>
              </a:defRPr>
            </a:pPr>
            <a:r>
              <a:t>Maksimal 2 jam kerja untuk kendala teknis akses</a:t>
            </a:r>
          </a:p>
        </p:txBody>
      </p:sp>
      <p:sp>
        <p:nvSpPr>
          <p:cNvPr id="18" name="TextBox 17"/>
          <p:cNvSpPr txBox="1"/>
          <p:nvPr/>
        </p:nvSpPr>
        <p:spPr>
          <a:xfrm>
            <a:off x="731520" y="6446520"/>
            <a:ext cx="5486400" cy="228600"/>
          </a:xfrm>
          <a:prstGeom prst="rect">
            <a:avLst/>
          </a:prstGeom>
          <a:noFill/>
        </p:spPr>
        <p:txBody>
          <a:bodyPr wrap="none" lIns="0" rIns="0" tIns="0" bIns="0">
            <a:spAutoFit/>
          </a:bodyPr>
          <a:lstStyle/>
          <a:p>
            <a:pPr>
              <a:defRPr sz="850">
                <a:solidFill>
                  <a:srgbClr val="475569"/>
                </a:solidFill>
                <a:latin typeface="Arial"/>
              </a:defRPr>
            </a:pPr>
            <a:r>
              <a:t>DataRequestStudio | Transformasi Tata Kelola Data CEISA Data Warehouse</a:t>
            </a:r>
          </a:p>
        </p:txBody>
      </p:sp>
      <p:sp>
        <p:nvSpPr>
          <p:cNvPr id="19" name="TextBox 18"/>
          <p:cNvSpPr txBox="1"/>
          <p:nvPr/>
        </p:nvSpPr>
        <p:spPr>
          <a:xfrm>
            <a:off x="4572000" y="6446520"/>
            <a:ext cx="3047695" cy="228600"/>
          </a:xfrm>
          <a:prstGeom prst="rect">
            <a:avLst/>
          </a:prstGeom>
          <a:noFill/>
        </p:spPr>
        <p:txBody>
          <a:bodyPr wrap="none" lIns="0" rIns="0" tIns="0" bIns="0">
            <a:spAutoFit/>
          </a:bodyPr>
          <a:lstStyle/>
          <a:p>
            <a:pPr algn="ctr">
              <a:defRPr sz="850">
                <a:solidFill>
                  <a:srgbClr val="475569"/>
                </a:solidFill>
                <a:latin typeface="Arial"/>
              </a:defRPr>
            </a:pPr>
            <a:r>
              <a:t>Klasifikasi: Terbatas / Khusus DJBC &amp; Kemenkeu</a:t>
            </a:r>
          </a:p>
        </p:txBody>
      </p:sp>
      <p:sp>
        <p:nvSpPr>
          <p:cNvPr id="20" name="TextBox 19"/>
          <p:cNvSpPr txBox="1"/>
          <p:nvPr/>
        </p:nvSpPr>
        <p:spPr>
          <a:xfrm>
            <a:off x="9631375" y="6446520"/>
            <a:ext cx="1828800" cy="228600"/>
          </a:xfrm>
          <a:prstGeom prst="rect">
            <a:avLst/>
          </a:prstGeom>
          <a:noFill/>
        </p:spPr>
        <p:txBody>
          <a:bodyPr wrap="none" lIns="0" rIns="0" tIns="0" bIns="0">
            <a:spAutoFit/>
          </a:bodyPr>
          <a:lstStyle/>
          <a:p>
            <a:pPr algn="r">
              <a:defRPr sz="850">
                <a:solidFill>
                  <a:srgbClr val="475569"/>
                </a:solidFill>
                <a:latin typeface="Arial"/>
              </a:defRPr>
            </a:pPr>
            <a:r>
              <a:t>Slide 9 dari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lIns="0" rIns="0" tIns="0" bIns="0">
            <a:spAutoFit/>
          </a:bodyPr>
          <a:lstStyle/>
          <a:p>
            <a:pPr>
              <a:defRPr sz="950" b="1">
                <a:solidFill>
                  <a:srgbClr val="0077C8"/>
                </a:solidFill>
                <a:latin typeface="Arial"/>
              </a:defRPr>
            </a:pPr>
            <a:r>
              <a:t>KESIMPULAN &amp; LANGKAH TINDAK LANJUT</a:t>
            </a:r>
          </a:p>
        </p:txBody>
      </p:sp>
      <p:sp>
        <p:nvSpPr>
          <p:cNvPr id="3" name="TextBox 2"/>
          <p:cNvSpPr txBox="1"/>
          <p:nvPr/>
        </p:nvSpPr>
        <p:spPr>
          <a:xfrm>
            <a:off x="731520" y="685800"/>
            <a:ext cx="10728655" cy="548640"/>
          </a:xfrm>
          <a:prstGeom prst="rect">
            <a:avLst/>
          </a:prstGeom>
          <a:noFill/>
        </p:spPr>
        <p:txBody>
          <a:bodyPr wrap="square" lIns="0" rIns="0" tIns="0" bIns="0">
            <a:spAutoFit/>
          </a:bodyPr>
          <a:lstStyle/>
          <a:p>
            <a:pPr>
              <a:defRPr sz="1900" b="1">
                <a:solidFill>
                  <a:srgbClr val="0F2042"/>
                </a:solidFill>
                <a:latin typeface="Arial"/>
              </a:defRPr>
            </a:pPr>
            <a:r>
              <a:t>Akselerasi pemanfaatan data kepabeanan yang bertanggung jawab, cepat, dan berintegritas dimulai dari DataRequestStudio.</a:t>
            </a:r>
          </a:p>
        </p:txBody>
      </p:sp>
      <p:sp>
        <p:nvSpPr>
          <p:cNvPr id="4" name="TextBox 3"/>
          <p:cNvSpPr txBox="1"/>
          <p:nvPr/>
        </p:nvSpPr>
        <p:spPr>
          <a:xfrm>
            <a:off x="731520" y="1234440"/>
            <a:ext cx="10728655" cy="320040"/>
          </a:xfrm>
          <a:prstGeom prst="rect">
            <a:avLst/>
          </a:prstGeom>
          <a:noFill/>
        </p:spPr>
        <p:txBody>
          <a:bodyPr wrap="square" lIns="0" rIns="0" tIns="0" bIns="0">
            <a:spAutoFit/>
          </a:bodyPr>
          <a:lstStyle/>
          <a:p>
            <a:pPr>
              <a:defRPr sz="1100">
                <a:solidFill>
                  <a:srgbClr val="475569"/>
                </a:solidFill>
                <a:latin typeface="Arial"/>
              </a:defRPr>
            </a:pPr>
            <a:r>
              <a:t>Tiga langkah strategis yang direkomendasikan bagi pimpinan unit kerja dan analis data.</a:t>
            </a:r>
          </a:p>
        </p:txBody>
      </p:sp>
      <p:sp>
        <p:nvSpPr>
          <p:cNvPr id="5" name="Rectangle 4"/>
          <p:cNvSpPr/>
          <p:nvPr/>
        </p:nvSpPr>
        <p:spPr>
          <a:xfrm>
            <a:off x="731520" y="157276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383280" cy="27432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383280" cy="91440"/>
          </a:xfrm>
          <a:prstGeom prst="rect">
            <a:avLst/>
          </a:prstGeom>
          <a:solidFill>
            <a:srgbClr val="0077C8"/>
          </a:solidFill>
          <a:ln>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17520" cy="2377440"/>
          </a:xfrm>
          <a:prstGeom prst="rect">
            <a:avLst/>
          </a:prstGeom>
          <a:noFill/>
        </p:spPr>
        <p:txBody>
          <a:bodyPr wrap="square" lIns="0" rIns="0" tIns="0" bIns="0">
            <a:spAutoFit/>
          </a:bodyPr>
          <a:lstStyle/>
          <a:p>
            <a:pPr>
              <a:defRPr sz="900" b="1">
                <a:solidFill>
                  <a:srgbClr val="0077C8"/>
                </a:solidFill>
                <a:latin typeface="Arial"/>
              </a:defRPr>
            </a:pPr>
            <a:r>
              <a:t>1. MULAI EKSPLORASI MANDIRI</a:t>
            </a:r>
          </a:p>
          <a:p>
            <a:pPr>
              <a:spcAft>
                <a:spcPts val="800"/>
              </a:spcAft>
              <a:defRPr sz="1200" b="1">
                <a:solidFill>
                  <a:srgbClr val="0F2042"/>
                </a:solidFill>
                <a:latin typeface="Arial"/>
              </a:defRPr>
            </a:pPr>
            <a:r>
              <a:t>Gunakan Katalog Terpadu</a:t>
            </a:r>
          </a:p>
          <a:p>
            <a:pPr>
              <a:defRPr sz="950">
                <a:solidFill>
                  <a:srgbClr val="1E293B"/>
                </a:solidFill>
                <a:latin typeface="Arial"/>
              </a:defRPr>
            </a:pPr>
            <a:r>
              <a:t>Dorong staf analis di unit kerja Anda untuk mengeksplorasi kamus data dan skema di OpenMetadata Catalog untuk merumuskan kebutuhan data secara presisi sebelum mengajukan permohonan.</a:t>
            </a:r>
          </a:p>
        </p:txBody>
      </p:sp>
      <p:sp>
        <p:nvSpPr>
          <p:cNvPr id="9" name="Rectangle 8"/>
          <p:cNvSpPr/>
          <p:nvPr/>
        </p:nvSpPr>
        <p:spPr>
          <a:xfrm>
            <a:off x="4389120" y="1737360"/>
            <a:ext cx="3383280" cy="27432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737360"/>
            <a:ext cx="3383280" cy="91440"/>
          </a:xfrm>
          <a:prstGeom prst="rect">
            <a:avLst/>
          </a:prstGeom>
          <a:solidFill>
            <a:srgbClr val="109577"/>
          </a:solidFill>
          <a:ln>
            <a:solidFill>
              <a:srgbClr val="109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65960"/>
            <a:ext cx="3017520" cy="2377440"/>
          </a:xfrm>
          <a:prstGeom prst="rect">
            <a:avLst/>
          </a:prstGeom>
          <a:noFill/>
        </p:spPr>
        <p:txBody>
          <a:bodyPr wrap="square" lIns="0" rIns="0" tIns="0" bIns="0">
            <a:spAutoFit/>
          </a:bodyPr>
          <a:lstStyle/>
          <a:p>
            <a:pPr>
              <a:defRPr sz="900" b="1">
                <a:solidFill>
                  <a:srgbClr val="109577"/>
                </a:solidFill>
                <a:latin typeface="Arial"/>
              </a:defRPr>
            </a:pPr>
            <a:r>
              <a:t>2. TERAPKAN MINIMISASI DATA</a:t>
            </a:r>
          </a:p>
          <a:p>
            <a:pPr>
              <a:spcAft>
                <a:spcPts val="800"/>
              </a:spcAft>
              <a:defRPr sz="1200" b="1">
                <a:solidFill>
                  <a:srgbClr val="0F2042"/>
                </a:solidFill>
                <a:latin typeface="Arial"/>
              </a:defRPr>
            </a:pPr>
            <a:r>
              <a:t>Patuhi Prinsip Tata Kelola PDP</a:t>
            </a:r>
          </a:p>
          <a:p>
            <a:pPr>
              <a:defRPr sz="950">
                <a:solidFill>
                  <a:srgbClr val="1E293B"/>
                </a:solidFill>
                <a:latin typeface="Arial"/>
              </a:defRPr>
            </a:pPr>
            <a:r>
              <a:t>Ajukan hanya atribut dan rentang waktu data yang mutlak diperlukan untuk kedinasan guna mempercepat proses verifikasi oleh Data Steward dan menjaga privasi wajib pajak.</a:t>
            </a:r>
          </a:p>
        </p:txBody>
      </p:sp>
      <p:sp>
        <p:nvSpPr>
          <p:cNvPr id="12" name="Rectangle 11"/>
          <p:cNvSpPr/>
          <p:nvPr/>
        </p:nvSpPr>
        <p:spPr>
          <a:xfrm>
            <a:off x="8046720" y="1737360"/>
            <a:ext cx="3383280" cy="27432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737360"/>
            <a:ext cx="3383280" cy="9144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65960"/>
            <a:ext cx="3017520" cy="2377440"/>
          </a:xfrm>
          <a:prstGeom prst="rect">
            <a:avLst/>
          </a:prstGeom>
          <a:noFill/>
        </p:spPr>
        <p:txBody>
          <a:bodyPr wrap="square" lIns="0" rIns="0" tIns="0" bIns="0">
            <a:spAutoFit/>
          </a:bodyPr>
          <a:lstStyle/>
          <a:p>
            <a:pPr>
              <a:defRPr sz="900" b="1">
                <a:solidFill>
                  <a:srgbClr val="0F2042"/>
                </a:solidFill>
                <a:latin typeface="Arial"/>
              </a:defRPr>
            </a:pPr>
            <a:r>
              <a:t>3. SINERGI &amp; INTEGRASI UNIT</a:t>
            </a:r>
          </a:p>
          <a:p>
            <a:pPr>
              <a:spcAft>
                <a:spcPts val="800"/>
              </a:spcAft>
              <a:defRPr sz="1200" b="1">
                <a:solidFill>
                  <a:srgbClr val="0F2042"/>
                </a:solidFill>
                <a:latin typeface="Arial"/>
              </a:defRPr>
            </a:pPr>
            <a:r>
              <a:t>Onboarding &amp; Umpan Balik Berkelanjutan</a:t>
            </a:r>
          </a:p>
          <a:p>
            <a:pPr>
              <a:defRPr sz="950">
                <a:solidFill>
                  <a:srgbClr val="1E293B"/>
                </a:solidFill>
                <a:latin typeface="Arial"/>
              </a:defRPr>
            </a:pPr>
            <a:r>
              <a:t>Bagi unit kerja yang memiliki kebutuhan data mart khusus atau kueri analitik rutin, koordinasikan integrasi template permohonan bersama Subdirektorat Pengelolaan Data.</a:t>
            </a:r>
          </a:p>
        </p:txBody>
      </p:sp>
      <p:sp>
        <p:nvSpPr>
          <p:cNvPr id="15" name="Rectangle 14"/>
          <p:cNvSpPr/>
          <p:nvPr/>
        </p:nvSpPr>
        <p:spPr>
          <a:xfrm>
            <a:off x="731520" y="4709160"/>
            <a:ext cx="10728655" cy="1463040"/>
          </a:xfrm>
          <a:prstGeom prst="rect">
            <a:avLst/>
          </a:prstGeom>
          <a:solidFill>
            <a:srgbClr val="0F2042"/>
          </a:solidFill>
          <a:ln>
            <a:solidFill>
              <a:srgbClr val="0F20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892040"/>
            <a:ext cx="10180015" cy="1097280"/>
          </a:xfrm>
          <a:prstGeom prst="rect">
            <a:avLst/>
          </a:prstGeom>
          <a:noFill/>
        </p:spPr>
        <p:txBody>
          <a:bodyPr wrap="square" lIns="0" rIns="0" tIns="0" bIns="0">
            <a:spAutoFit/>
          </a:bodyPr>
          <a:lstStyle/>
          <a:p>
            <a:pPr>
              <a:defRPr sz="1050" b="1">
                <a:solidFill>
                  <a:srgbClr val="0077C8"/>
                </a:solidFill>
                <a:latin typeface="Arial"/>
              </a:defRPr>
            </a:pPr>
            <a:r>
              <a:t>VISI DATAREQUESTSTUDIO: TATA KELOLA DATA PRIMA UNTUK KEPABEANAN &amp; CUKAI</a:t>
            </a:r>
          </a:p>
          <a:p>
            <a:pPr>
              <a:spcBef>
                <a:spcPts val="400"/>
              </a:spcBef>
              <a:defRPr sz="1800" b="1">
                <a:solidFill>
                  <a:srgbClr val="FFFFFF"/>
                </a:solidFill>
                <a:latin typeface="Arial"/>
              </a:defRPr>
            </a:pPr>
            <a:r>
              <a:t>"Data Tepat, Proses Cepat, Privasi Terjaga, Kebijakan Akurat."</a:t>
            </a:r>
          </a:p>
          <a:p>
            <a:pPr>
              <a:spcBef>
                <a:spcPts val="400"/>
              </a:spcBef>
              <a:defRPr sz="1000">
                <a:solidFill>
                  <a:srgbClr val="CBD5E1"/>
                </a:solidFill>
                <a:latin typeface="Arial"/>
              </a:defRPr>
            </a:pPr>
            <a:r>
              <a:t>Kunjungi portal resmi dan wujudkan tata kelola data berbasis bukti (evidence-based policy) di lingkungan Kementerian Keuangan.</a:t>
            </a:r>
          </a:p>
        </p:txBody>
      </p:sp>
      <p:sp>
        <p:nvSpPr>
          <p:cNvPr id="17" name="TextBox 16"/>
          <p:cNvSpPr txBox="1"/>
          <p:nvPr/>
        </p:nvSpPr>
        <p:spPr>
          <a:xfrm>
            <a:off x="731520" y="6446520"/>
            <a:ext cx="5486400" cy="228600"/>
          </a:xfrm>
          <a:prstGeom prst="rect">
            <a:avLst/>
          </a:prstGeom>
          <a:noFill/>
        </p:spPr>
        <p:txBody>
          <a:bodyPr wrap="none" lIns="0" rIns="0" tIns="0" bIns="0">
            <a:spAutoFit/>
          </a:bodyPr>
          <a:lstStyle/>
          <a:p>
            <a:pPr>
              <a:defRPr sz="850">
                <a:solidFill>
                  <a:srgbClr val="475569"/>
                </a:solidFill>
                <a:latin typeface="Arial"/>
              </a:defRPr>
            </a:pPr>
            <a:r>
              <a:t>DataRequestStudio | Transformasi Tata Kelola Data CEISA Data Warehouse</a:t>
            </a:r>
          </a:p>
        </p:txBody>
      </p:sp>
      <p:sp>
        <p:nvSpPr>
          <p:cNvPr id="18" name="TextBox 17"/>
          <p:cNvSpPr txBox="1"/>
          <p:nvPr/>
        </p:nvSpPr>
        <p:spPr>
          <a:xfrm>
            <a:off x="4572000" y="6446520"/>
            <a:ext cx="3047695" cy="228600"/>
          </a:xfrm>
          <a:prstGeom prst="rect">
            <a:avLst/>
          </a:prstGeom>
          <a:noFill/>
        </p:spPr>
        <p:txBody>
          <a:bodyPr wrap="none" lIns="0" rIns="0" tIns="0" bIns="0">
            <a:spAutoFit/>
          </a:bodyPr>
          <a:lstStyle/>
          <a:p>
            <a:pPr algn="ctr">
              <a:defRPr sz="850">
                <a:solidFill>
                  <a:srgbClr val="475569"/>
                </a:solidFill>
                <a:latin typeface="Arial"/>
              </a:defRPr>
            </a:pPr>
            <a:r>
              <a:t>Klasifikasi: Terbatas / Khusus DJBC &amp; Kemenkeu</a:t>
            </a:r>
          </a:p>
        </p:txBody>
      </p:sp>
      <p:sp>
        <p:nvSpPr>
          <p:cNvPr id="19" name="TextBox 18"/>
          <p:cNvSpPr txBox="1"/>
          <p:nvPr/>
        </p:nvSpPr>
        <p:spPr>
          <a:xfrm>
            <a:off x="9631375" y="6446520"/>
            <a:ext cx="1828800" cy="228600"/>
          </a:xfrm>
          <a:prstGeom prst="rect">
            <a:avLst/>
          </a:prstGeom>
          <a:noFill/>
        </p:spPr>
        <p:txBody>
          <a:bodyPr wrap="none" lIns="0" rIns="0" tIns="0" bIns="0">
            <a:spAutoFit/>
          </a:bodyPr>
          <a:lstStyle/>
          <a:p>
            <a:pPr algn="r">
              <a:defRPr sz="850">
                <a:solidFill>
                  <a:srgbClr val="475569"/>
                </a:solidFill>
                <a:latin typeface="Arial"/>
              </a:defRPr>
            </a:pPr>
            <a:r>
              <a:t>Slide 10 dari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